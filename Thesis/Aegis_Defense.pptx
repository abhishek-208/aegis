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12" r:id="rId33"/>
    <p:sldId id="313" r:id="rId34"/>
    <p:sldId id="314" r:id="rId35"/>
    <p:sldId id="288" r:id="rId36"/>
    <p:sldId id="311" r:id="rId37"/>
    <p:sldId id="295" r:id="rId38"/>
    <p:sldId id="289" r:id="rId39"/>
    <p:sldId id="290" r:id="rId40"/>
    <p:sldId id="291" r:id="rId41"/>
    <p:sldId id="292" r:id="rId42"/>
    <p:sldId id="315" r:id="rId43"/>
    <p:sldId id="293" r:id="rId44"/>
    <p:sldId id="310" r:id="rId45"/>
    <p:sldId id="309" r:id="rId46"/>
    <p:sldId id="316" r:id="rId47"/>
    <p:sldId id="296" r:id="rId48"/>
    <p:sldId id="297" r:id="rId49"/>
    <p:sldId id="298" r:id="rId50"/>
    <p:sldId id="299" r:id="rId51"/>
    <p:sldId id="300" r:id="rId52"/>
    <p:sldId id="318" r:id="rId53"/>
    <p:sldId id="320" r:id="rId54"/>
    <p:sldId id="321" r:id="rId55"/>
    <p:sldId id="317" r:id="rId56"/>
    <p:sldId id="319" r:id="rId57"/>
    <p:sldId id="287" r:id="rId58"/>
    <p:sldId id="301" r:id="rId59"/>
    <p:sldId id="302" r:id="rId60"/>
    <p:sldId id="303" r:id="rId61"/>
    <p:sldId id="304" r:id="rId62"/>
    <p:sldId id="305" r:id="rId63"/>
    <p:sldId id="306" r:id="rId64"/>
    <p:sldId id="307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F3A47A-8608-49B7-863F-333301B9E3C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312"/>
            <p14:sldId id="313"/>
            <p14:sldId id="314"/>
            <p14:sldId id="288"/>
            <p14:sldId id="311"/>
            <p14:sldId id="295"/>
            <p14:sldId id="289"/>
            <p14:sldId id="290"/>
            <p14:sldId id="291"/>
            <p14:sldId id="292"/>
            <p14:sldId id="315"/>
            <p14:sldId id="293"/>
          </p14:sldIdLst>
        </p14:section>
        <p14:section name="Untitled Section" id="{366C6888-A38B-4A9B-87AD-31F2A319B3A9}">
          <p14:sldIdLst>
            <p14:sldId id="310"/>
            <p14:sldId id="309"/>
            <p14:sldId id="316"/>
            <p14:sldId id="296"/>
            <p14:sldId id="297"/>
            <p14:sldId id="298"/>
            <p14:sldId id="299"/>
            <p14:sldId id="300"/>
            <p14:sldId id="318"/>
            <p14:sldId id="320"/>
            <p14:sldId id="321"/>
            <p14:sldId id="317"/>
            <p14:sldId id="319"/>
            <p14:sldId id="287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40"/>
    <a:srgbClr val="070C10"/>
    <a:srgbClr val="B56A10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M.TECH THESIS DEFENSE  ·  INDIAN INSTITUTE OF TECHNOLOGY DELHI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10607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Segoe UI Semibold"/>
              </a:rPr>
              <a:t>Enhanced Aegis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42416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0" i="0" dirty="0">
                <a:solidFill>
                  <a:srgbClr val="E9C88F"/>
                </a:solidFill>
                <a:latin typeface="Segoe UI Light"/>
              </a:rPr>
              <a:t>A Byzantine-Resilient Federated Learning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840480"/>
            <a:ext cx="4754880" cy="32004"/>
          </a:xfrm>
          <a:prstGeom prst="rect">
            <a:avLst/>
          </a:prstGeom>
          <a:solidFill>
            <a:srgbClr val="183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Abhishek Kumar Tripathi</a:t>
            </a:r>
            <a:r>
              <a:rPr sz="1500" b="0" i="0">
                <a:solidFill>
                  <a:srgbClr val="B9C6D4"/>
                </a:solidFill>
                <a:latin typeface="Segoe UI"/>
              </a:rPr>
              <a:t>    (2024EET2845)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D7E0EA"/>
                </a:solidFill>
                <a:latin typeface="Segoe UI"/>
              </a:rPr>
              <a:t>Advisor:  Prof. Harshan Jagdeesh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9B8C8"/>
                </a:solidFill>
                <a:latin typeface="Segoe UI"/>
              </a:rPr>
              <a:t>Department of Electrical Engineering, IIT Delhi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572768"/>
            <a:ext cx="548640" cy="54864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1536192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A47"/>
                </a:solidFill>
                <a:latin typeface="Segoe UI Semibold"/>
              </a:rPr>
              <a:t>Motivation &amp;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892807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B"/>
                </a:solidFill>
                <a:latin typeface="Segoe UI"/>
              </a:rPr>
              <a:t>Federated Learning on diverse edge networks; the Byzantine threat under highly skewed data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50008"/>
            <a:ext cx="548640" cy="54864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2313432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A47"/>
                </a:solidFill>
                <a:latin typeface="Segoe UI Semibold"/>
              </a:rPr>
              <a:t>Threat Model &amp;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670048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B"/>
                </a:solidFill>
                <a:latin typeface="Segoe UI"/>
              </a:rPr>
              <a:t>Our omniscient, adaptive attacker using six distinct attack strategies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27248"/>
            <a:ext cx="548640" cy="54864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12724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3090672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A47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3447288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B"/>
                </a:solidFill>
                <a:latin typeface="Segoe UI"/>
              </a:rPr>
              <a:t>How Aegis evolved, its six mathematical stages, and achieving O(kd) efficiency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04487"/>
            <a:ext cx="548640" cy="54864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04487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344" y="3867911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A47"/>
                </a:solidFill>
                <a:latin typeface="Segoe UI Semibold"/>
              </a:rPr>
              <a:t>Experimental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4224527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B"/>
                </a:solidFill>
                <a:latin typeface="Segoe UI"/>
              </a:rPr>
              <a:t>Testing with CIFAR-10, highly Non-IID data, and five baseline defenses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681727"/>
            <a:ext cx="548640" cy="54864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681727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344" y="4645151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A47"/>
                </a:solidFill>
                <a:latin typeface="Segoe UI Semibold"/>
              </a:rPr>
              <a:t>Results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9344" y="5001767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C6B7B"/>
                </a:solidFill>
                <a:latin typeface="Segoe UI"/>
              </a:rPr>
              <a:t>Final experimental results, including successes, the ALIE/IPM breaches, and sweeps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458967"/>
            <a:ext cx="548640" cy="54864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458967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9344" y="5422391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2A47"/>
                </a:solidFill>
                <a:latin typeface="Segoe UI Semibold"/>
              </a:rPr>
              <a:t>Conclusions &amp;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9344" y="5779007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5C6B7B"/>
                </a:solidFill>
                <a:latin typeface="Segoe UI"/>
              </a:rPr>
              <a:t>Summary of achievements, known limitations, and four future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183C60"/>
                </a:solidFill>
                <a:latin typeface="Segoe UI Ligh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3127248"/>
            <a:ext cx="1554480" cy="5486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PART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9184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Motivation &amp;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3484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2DE"/>
                </a:solidFill>
                <a:latin typeface="Segoe UI"/>
              </a:rPr>
              <a:t>Why federated learning, and why Byzantine resilience is hard under Non-IID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Why Federated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dirty="0">
                <a:solidFill>
                  <a:srgbClr val="1F2933"/>
                </a:solidFill>
                <a:latin typeface="Segoe UI"/>
              </a:rPr>
              <a:t>Edge devices like drone swarms and hospitals collaborate to train a shared model. They exchange only gradients, keeping raw data securely on-device.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456432" cy="31546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456432" cy="91440"/>
          </a:xfrm>
          <a:prstGeom prst="roundRect">
            <a:avLst/>
          </a:prstGeom>
          <a:solidFill>
            <a:srgbClr val="B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B97A0B"/>
                </a:solidFill>
                <a:latin typeface="Segoe UI Semibold"/>
              </a:rPr>
              <a:t>Bandwidth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299923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>
                <a:solidFill>
                  <a:srgbClr val="1F2933"/>
                </a:solidFill>
                <a:latin typeface="Segoe UI"/>
              </a:rPr>
              <a:t>Costs scale with model size, not dataset size.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>
                <a:solidFill>
                  <a:srgbClr val="1F2933"/>
                </a:solidFill>
                <a:latin typeface="Segoe UI"/>
              </a:rPr>
              <a:t>Sending just 4.5 MB per round instead of 21 GB saves immense bandwidth.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456432" cy="31546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2286000"/>
            <a:ext cx="3456432" cy="914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487168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7D32"/>
                </a:solidFill>
                <a:latin typeface="Segoe UI Semibold"/>
              </a:rPr>
              <a:t>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99232"/>
            <a:ext cx="299923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dirty="0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 dirty="0">
                <a:solidFill>
                  <a:srgbClr val="1F2933"/>
                </a:solidFill>
                <a:latin typeface="Segoe UI"/>
              </a:rPr>
              <a:t>The server only sees gradient updates, never raw data or labels.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dirty="0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 dirty="0">
                <a:solidFill>
                  <a:srgbClr val="1F2933"/>
                </a:solidFill>
                <a:latin typeface="Segoe UI"/>
              </a:rPr>
              <a:t>Compatible with encryption without altering the core protocol.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286000"/>
            <a:ext cx="3456432" cy="31546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38159" y="2286000"/>
            <a:ext cx="3456432" cy="91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2487168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Segoe UI Semibold"/>
              </a:rPr>
              <a:t>The catch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999232"/>
            <a:ext cx="299923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>
                <a:solidFill>
                  <a:srgbClr val="1F2933"/>
                </a:solidFill>
                <a:latin typeface="Segoe UI"/>
              </a:rPr>
              <a:t>The server's lack of visibility creates a critical blind spot.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>
                <a:solidFill>
                  <a:srgbClr val="1F2933"/>
                </a:solidFill>
                <a:latin typeface="Segoe UI"/>
              </a:rPr>
              <a:t>Attackers can submit poisoned gradients that look completely normal.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50992"/>
            <a:ext cx="10744200" cy="7772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l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091" y="5742432"/>
            <a:ext cx="5311336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CORE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The Compounding Challenge of Highly Skewed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59893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00" b="1">
                <a:solidFill>
                  <a:srgbClr val="0E2A47"/>
                </a:solidFill>
                <a:latin typeface="Segoe UI"/>
              </a:rPr>
              <a:t>Real-world federated nodes are highly specialized.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5C6B7B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1F2933"/>
                </a:solidFill>
                <a:latin typeface="Segoe UI"/>
              </a:rPr>
              <a:t>In our setup, each client sees only ~40% of the classes.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5C6B7B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1F2933"/>
                </a:solidFill>
                <a:latin typeface="Segoe UI"/>
              </a:rPr>
              <a:t>This makes honest updates 10–50× more dissimilar than standard IID data.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00" b="1">
                <a:solidFill>
                  <a:srgbClr val="0E2A47"/>
                </a:solidFill>
                <a:latin typeface="Segoe UI"/>
              </a:rPr>
              <a:t>Most defenses filter out updates far from the center.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5C6B7B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1F2933"/>
                </a:solidFill>
                <a:latin typeface="Segoe UI"/>
              </a:rPr>
              <a:t>But highly specialized honest updates naturally sit far from the center.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5C6B7B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1F2933"/>
                </a:solidFill>
                <a:latin typeface="Segoe UI"/>
              </a:rPr>
              <a:t>Filters discard this honest signal while admitting stealthy, centered poison.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00" b="1">
                <a:solidFill>
                  <a:srgbClr val="C0392B"/>
                </a:solidFill>
                <a:latin typeface="Segoe UI"/>
              </a:rPr>
              <a:t>The Byzantine Tax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5C6B7B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1F2933"/>
                </a:solidFill>
                <a:latin typeface="Segoe UI"/>
              </a:rPr>
              <a:t>The accuracy lost just by running the defense under normal conditions.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200">
                <a:solidFill>
                  <a:srgbClr val="5C6B7B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1F2933"/>
                </a:solidFill>
                <a:latin typeface="Segoe UI"/>
              </a:rPr>
              <a:t>For example, Bulyan loses 8.5 percentage points with zero attackers.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554480"/>
            <a:ext cx="4480560" cy="278892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70078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A54E"/>
                </a:solidFill>
                <a:latin typeface="Segoe UI Semibold"/>
              </a:rPr>
              <a:t>The lethal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194560"/>
            <a:ext cx="40690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Honest specialists</a:t>
            </a:r>
            <a:r>
              <a:rPr sz="1300" b="0" i="0">
                <a:solidFill>
                  <a:srgbClr val="C6D2DE"/>
                </a:solidFill>
                <a:latin typeface="Segoe UI"/>
              </a:rPr>
              <a:t>  look like outliers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Stealthy attackers</a:t>
            </a:r>
            <a:r>
              <a:rPr sz="1300" b="0" i="0">
                <a:solidFill>
                  <a:srgbClr val="C6D2DE"/>
                </a:solidFill>
                <a:latin typeface="Segoe UI"/>
              </a:rPr>
              <a:t>  hide near the center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3A54E"/>
                </a:solidFill>
                <a:latin typeface="Segoe UI"/>
              </a:rPr>
              <a:t>↓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Standard filters reject good data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and accept the poison.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526280"/>
            <a:ext cx="4480560" cy="11430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42048" y="465429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Center Drag (single-pass median)</a:t>
            </a:r>
          </a:p>
        </p:txBody>
      </p:sp>
      <p:pic>
        <p:nvPicPr>
          <p:cNvPr id="12" name="Picture 11" descr="center_d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5190811"/>
            <a:ext cx="4114800" cy="1339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0533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B97A0B"/>
                </a:solidFill>
                <a:latin typeface="Segoe UI"/>
              </a:rPr>
              <a:t>No prior single-stage aggregator handles Non-IID diversity, IPM, and Sybil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What Is Missing — and Our 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44200" cy="13716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241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97A0B"/>
                </a:solidFill>
                <a:latin typeface="Segoe UI Semibold"/>
              </a:rPr>
              <a:t>Our Research Question:  </a:t>
            </a:r>
            <a:r>
              <a:rPr sz="1600" b="0" i="0">
                <a:solidFill>
                  <a:srgbClr val="0E2A47"/>
                </a:solidFill>
                <a:latin typeface="Segoe UI"/>
              </a:rPr>
              <a:t>Can a linear-time aggregator protect a highly diverse federated network against coordinated attacks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E2A47"/>
                </a:solidFill>
                <a:latin typeface="Segoe UI"/>
              </a:rPr>
              <a:t>without punishing honest specialists?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2933"/>
                </a:solidFill>
                <a:latin typeface="Segoe UI"/>
              </a:rPr>
              <a:t>Three requirements no existing defence meets together: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4564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3867912"/>
            <a:ext cx="457200" cy="45720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867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A54E"/>
                </a:solidFill>
                <a:latin typeface="Segoe UI Semibol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8620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2A47"/>
                </a:solidFill>
                <a:latin typeface="Segoe UI Semibold"/>
              </a:rPr>
              <a:t>Heterogeneity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29992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C6B7B"/>
                </a:solidFill>
                <a:latin typeface="Segoe UI"/>
              </a:rPr>
              <a:t>Preserve divergent honest specialists instead of rejecting them as outliers — no accuracy penalty on Non-IID clients.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657600"/>
            <a:ext cx="34564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63440" y="3867912"/>
            <a:ext cx="457200" cy="45720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3867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A54E"/>
                </a:solidFill>
                <a:latin typeface="Segoe UI Semibol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88620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2A47"/>
                </a:solidFill>
                <a:latin typeface="Segoe UI Semibold"/>
              </a:rPr>
              <a:t>Uncontaminated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26280"/>
            <a:ext cx="29992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C6B7B"/>
                </a:solidFill>
                <a:latin typeface="Segoe UI"/>
              </a:rPr>
              <a:t>Score every update against a clean, debiased center that coordinated, stealthy adversaries cannot tilt.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657600"/>
            <a:ext cx="34564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66759" y="3867912"/>
            <a:ext cx="457200" cy="45720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59" y="3867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3A54E"/>
                </a:solidFill>
                <a:latin typeface="Segoe UI Semi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3886200"/>
            <a:ext cx="2542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E2A47"/>
                </a:solidFill>
                <a:latin typeface="Segoe UI Semibold"/>
              </a:rPr>
              <a:t>Influence capping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526280"/>
            <a:ext cx="29992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C6B7B"/>
                </a:solidFill>
                <a:latin typeface="Segoe UI"/>
              </a:rPr>
              <a:t>Bound what any single actor can manufacture through duplicated identities or inflated data volume.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97A0B"/>
                </a:solidFill>
                <a:latin typeface="Segoe UI"/>
              </a:rPr>
              <a:t>→  This gap motivates Aegis.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183C60"/>
                </a:solidFill>
                <a:latin typeface="Segoe UI Ligh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3127248"/>
            <a:ext cx="1554480" cy="5486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PART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9184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Threat Model &amp; Attacks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3484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2DE"/>
                </a:solidFill>
                <a:latin typeface="Segoe UI"/>
              </a:rPr>
              <a:t>An omniscient, adaptive, coordinated adversary at up to 40% of the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Adversary Capabilities &amp;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17904"/>
            <a:ext cx="5257800" cy="27432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45919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The adversary 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Perfectly understand the aggregation rule and global model.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Estimate the honest network's mean gradient.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Fully coordinate all compromised clients.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Persistently attack in every single round.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17904"/>
            <a:ext cx="5257800" cy="27432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THE ADVERSARY CANNOT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✕  </a:t>
            </a:r>
            <a:r>
              <a:rPr sz="1400">
                <a:solidFill>
                  <a:srgbClr val="FFFFFF"/>
                </a:solidFill>
                <a:latin typeface="Segoe UI"/>
              </a:rPr>
              <a:t>Intercept honest updates before they reach the server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✕  </a:t>
            </a:r>
            <a:r>
              <a:rPr sz="1400">
                <a:solidFill>
                  <a:srgbClr val="FFFFFF"/>
                </a:solidFill>
                <a:latin typeface="Segoe UI"/>
              </a:rPr>
              <a:t>Corrupt the central server itself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✕  </a:t>
            </a:r>
            <a:r>
              <a:rPr sz="1400">
                <a:solidFill>
                  <a:srgbClr val="FFFFFF"/>
                </a:solidFill>
                <a:latin typeface="Segoe UI"/>
              </a:rPr>
              <a:t>Take over the majority of the network (f &lt; K/2)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5257800" cy="1325880"/>
          </a:xfrm>
          <a:prstGeom prst="roundRect">
            <a:avLst/>
          </a:prstGeom>
          <a:solidFill>
            <a:srgbClr val="F7E1AE"/>
          </a:solidFill>
          <a:ln w="12700">
            <a:solidFill>
              <a:srgbClr val="E3A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562855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Honest-majority bound</a:t>
            </a:r>
          </a:p>
        </p:txBody>
      </p:sp>
      <p:pic>
        <p:nvPicPr>
          <p:cNvPr id="14" name="Picture 13" descr="byz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38039"/>
            <a:ext cx="4892040" cy="23952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4434840"/>
            <a:ext cx="5257800" cy="13258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4562855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Fixed adversary, random participation</a:t>
            </a:r>
          </a:p>
        </p:txBody>
      </p:sp>
      <p:pic>
        <p:nvPicPr>
          <p:cNvPr id="17" name="Picture 16" descr="hyperge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135681"/>
            <a:ext cx="4892040" cy="19851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5870448"/>
            <a:ext cx="10789920" cy="383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 dirty="0">
                <a:solidFill>
                  <a:srgbClr val="5C6B7B"/>
                </a:solidFill>
                <a:latin typeface="Segoe UI"/>
              </a:rPr>
              <a:t>System: K = 30 clients, one honest non-colluding server, m ∈ [15,2</a:t>
            </a:r>
            <a:r>
              <a:rPr lang="en-US" sz="1250" b="0" i="1" dirty="0">
                <a:solidFill>
                  <a:srgbClr val="5C6B7B"/>
                </a:solidFill>
                <a:latin typeface="Segoe UI"/>
              </a:rPr>
              <a:t>8</a:t>
            </a:r>
            <a:r>
              <a:rPr sz="1250" b="0" i="1" dirty="0">
                <a:solidFill>
                  <a:srgbClr val="5C6B7B"/>
                </a:solidFill>
                <a:latin typeface="Segoe UI"/>
              </a:rPr>
              <a:t>] sampled/round.  Byzantine fraction swept to f = 0.40 — Aegis defends gracefully through f = 0.30 (collapse at 0.40).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The Threat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17904"/>
            <a:ext cx="10744200" cy="15544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tt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572" y="1682496"/>
            <a:ext cx="8608095" cy="124358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46120"/>
          <a:ext cx="107442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Attack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Mechanism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Norm
evasion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Dir.
evasion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Median
poison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Identity
spoof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Label-Flip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Data corruption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Sign-Flip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Direction inversion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IPM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Stealth anti-gradient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ALIE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In-variance poison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AA6B2"/>
                          </a:solidFill>
                          <a:latin typeface="Segoe UI"/>
                        </a:rPr>
                        <a:t>✕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Sybil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Density flooding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B97A0B"/>
                </a:solidFill>
                <a:latin typeface="Segoe UI"/>
              </a:rPr>
              <a:t>No single defensive axis defeats all </a:t>
            </a:r>
            <a:r>
              <a:rPr lang="en-US" sz="1300" b="1" i="0" dirty="0">
                <a:solidFill>
                  <a:srgbClr val="B97A0B"/>
                </a:solidFill>
                <a:latin typeface="Segoe UI"/>
              </a:rPr>
              <a:t>of the above</a:t>
            </a:r>
            <a:r>
              <a:rPr sz="1300" b="1" i="0" dirty="0">
                <a:solidFill>
                  <a:srgbClr val="B97A0B"/>
                </a:solidFill>
                <a:latin typeface="Segoe UI"/>
              </a:rPr>
              <a:t> — a robust </a:t>
            </a:r>
            <a:r>
              <a:rPr sz="1300" b="1" i="0" dirty="0" err="1">
                <a:solidFill>
                  <a:srgbClr val="B97A0B"/>
                </a:solidFill>
                <a:latin typeface="Segoe UI"/>
              </a:rPr>
              <a:t>defence</a:t>
            </a:r>
            <a:r>
              <a:rPr sz="1300" b="1" i="0" dirty="0">
                <a:solidFill>
                  <a:srgbClr val="B97A0B"/>
                </a:solidFill>
                <a:latin typeface="Segoe UI"/>
              </a:rPr>
              <a:t> must apply magnitude, direction, and identity checks against a clean, debiased reference.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Existing Defences — and Their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4420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Method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Core mechanism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Tolerance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Complexity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Multi-Krum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Select k updates minimising neighbour distance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 &lt; K/2 − 2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O(K²d)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Coord.-wise Median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Per-coordinate median over all updates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 &lt; K/2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O(Kd)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Trimmed Mean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Drop extreme f per coordinate, average rest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 &lt; K/2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O(Kd log 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Bulyan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Krum selection, then trimmed mean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f &lt; K/4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O(K²d)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FoolsGold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Down-weight high cosine-similarity (Sybil)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Sybil-only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O(K²d)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Aegis  (this thesis)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Two-pass median + dual-metric + EMA reputation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f &lt; K/2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O(kd)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74920"/>
            <a:ext cx="10789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0">
                <a:solidFill>
                  <a:srgbClr val="1F2933"/>
                </a:solidFill>
                <a:latin typeface="Segoe UI"/>
              </a:rPr>
              <a:t>Bulyan — the strongest prior scheme — needs f &lt; K/4; it is inapplicable at our 40% setting.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1">
                <a:solidFill>
                  <a:srgbClr val="0E2A47"/>
                </a:solidFill>
                <a:latin typeface="Segoe UI"/>
              </a:rPr>
              <a:t>Every O(K²d) scheme is prohibitive at scale. Aegis sustains f = 0.30 at O(kd) — past Bulyan's f &lt; K/4 ceiling and far cheaper.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0">
                <a:solidFill>
                  <a:srgbClr val="5C6B7B"/>
                </a:solidFill>
                <a:latin typeface="Segoe UI"/>
              </a:rPr>
              <a:t>Tolerances above are theoretical (primitive breakdown points); empirically all collapse near f = 0.40 under our Non-IID threat — Aegis stays graceful furthest, to f = 0.30.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183C60"/>
                </a:solidFill>
                <a:latin typeface="Segoe UI Ligh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3127248"/>
            <a:ext cx="1554480" cy="5486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PART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9184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3484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2DE"/>
                </a:solidFill>
                <a:latin typeface="Segoe UI"/>
              </a:rPr>
              <a:t>From the interim design to the enhanced protocol — six mathematical stages, O(kd)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From Initial Aegis to Enhanced Aegis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72768"/>
          <a:ext cx="107442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Aspect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Initial Aegis  (interim)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Enhanced Aegis  (paper / thesis)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Directional filter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334A60"/>
                          </a:solidFill>
                          <a:latin typeface="Segoe UI"/>
                        </a:rPr>
                        <a:t>Hard gate: cos &lt; 0 → discard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Soft penalty α·Pₖ (Euclidean-only gate)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Reputation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334A60"/>
                          </a:solidFill>
                          <a:latin typeface="Segoe UI"/>
                        </a:rPr>
                        <a:t>Not in credit score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EMA Rₖ fused into credit (γ=0.95, λ=20)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Adaptive threshold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334A60"/>
                          </a:solidFill>
                          <a:latin typeface="Segoe UI"/>
                        </a:rPr>
                        <a:t>Round decay + variance (CV)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+ hard floor  k_floor = 4.0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Convergence aid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334A60"/>
                          </a:solidFill>
                          <a:latin typeface="Segoe UI"/>
                        </a:rPr>
                        <a:t>Server momentum (on)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Off → re-scoped as IPM velocity patch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Cosine weight 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334A60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Scale / LR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334A60"/>
                          </a:solidFill>
                          <a:latin typeface="Segoe UI"/>
                        </a:rPr>
                        <a:t>40 clients,  lr 1e−3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30 clients,  lr 1e−2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Threats studied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334A60"/>
                          </a:solidFill>
                          <a:latin typeface="Segoe UI"/>
                        </a:rPr>
                        <a:t>sign, noise, label, orthogonal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+ IPM, ALIE, Sybil, vol-spam (+ limits)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97A0B"/>
                </a:solidFill>
                <a:latin typeface="Segoe UI"/>
              </a:rPr>
              <a:t>The interim protocol proved the concept; the enhanced protocol fixes the false-positive and stealth-attack gaps it exposed.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Why the Protocol Evolved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10744200" cy="1078992"/>
          </a:xfrm>
          <a:prstGeom prst="roundRect">
            <a:avLst/>
          </a:prstGeom>
          <a:solidFill>
            <a:srgbClr val="F6DEDA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Segoe UI Semibold"/>
              </a:rPr>
              <a:t>Initial Aegis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0392B"/>
                </a:solidFill>
                <a:latin typeface="Segoe UI"/>
              </a:rPr>
              <a:t>(interim)</a:t>
            </a:r>
          </a:p>
        </p:txBody>
      </p:sp>
      <p:pic>
        <p:nvPicPr>
          <p:cNvPr id="8" name="Picture 7" descr="evo_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46" y="1591056"/>
            <a:ext cx="5628067" cy="868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2670048"/>
            <a:ext cx="10744200" cy="1078992"/>
          </a:xfrm>
          <a:prstGeom prst="roundRect">
            <a:avLst/>
          </a:prstGeom>
          <a:solidFill>
            <a:srgbClr val="DDEED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Segoe UI Semibold"/>
              </a:rPr>
              <a:t>Enhanced Aegis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E7D32"/>
                </a:solidFill>
                <a:latin typeface="Segoe UI"/>
              </a:rPr>
              <a:t>(final)</a:t>
            </a:r>
          </a:p>
        </p:txBody>
      </p:sp>
      <p:pic>
        <p:nvPicPr>
          <p:cNvPr id="11" name="Picture 10" descr="evo_enhan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395" y="2761488"/>
            <a:ext cx="5383369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3977639"/>
            <a:ext cx="3456432" cy="1874519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456432" cy="82296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4160520"/>
            <a:ext cx="30540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A47"/>
                </a:solidFill>
                <a:latin typeface="Segoe UI Semibold"/>
              </a:rPr>
              <a:t>A hard cosine gate is a 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28032"/>
            <a:ext cx="3054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6B7B"/>
                </a:solidFill>
                <a:latin typeface="Segoe UI"/>
              </a:rPr>
              <a:t>It allows orthogonal attacks while amputating honest specialists. Our fix: a continuous soft penalty α·Pₖ.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977639"/>
            <a:ext cx="3456432" cy="1874519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34840" y="3977639"/>
            <a:ext cx="3456432" cy="82296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7" y="4160520"/>
            <a:ext cx="30540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A47"/>
                </a:solidFill>
                <a:latin typeface="Segoe UI Semibold"/>
              </a:rPr>
              <a:t>Round-by-round scoring misses stealth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828032"/>
            <a:ext cx="3054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6B7B"/>
                </a:solidFill>
                <a:latin typeface="Segoe UI"/>
              </a:rPr>
              <a:t>Attacks like ALIE hide within normal variance. Our fix: cross-round EMA reputation λRₖ catches them over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977639"/>
            <a:ext cx="3456432" cy="1874519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38159" y="3977639"/>
            <a:ext cx="3456432" cy="82296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4160520"/>
            <a:ext cx="305409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A47"/>
                </a:solidFill>
                <a:latin typeface="Segoe UI Semibold"/>
              </a:rPr>
              <a:t>Coupling them caused a death spiral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828032"/>
            <a:ext cx="3054096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C6B7B"/>
                </a:solidFill>
                <a:latin typeface="Segoe UI"/>
              </a:rPr>
              <a:t>Cleaning the pool tightens thresholds, hurting honest clients. Our fix: decouple threshold calculations from the filtered pool.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83577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7001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B97A0B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6457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Aggregation Pipeline —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24825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0" y="175017"/>
            <a:ext cx="1417320" cy="47548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289650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E3A54E"/>
                </a:solidFill>
                <a:latin typeface="Consolas"/>
              </a:rPr>
              <a:t>O(</a:t>
            </a:r>
            <a:r>
              <a:rPr sz="1600" b="1" i="1" dirty="0" err="1">
                <a:solidFill>
                  <a:srgbClr val="E3A54E"/>
                </a:solidFill>
                <a:latin typeface="Consolas"/>
              </a:rPr>
              <a:t>kd</a:t>
            </a:r>
            <a:r>
              <a:rPr sz="1600" b="1" i="0" dirty="0">
                <a:solidFill>
                  <a:srgbClr val="E3A54E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9040" y="1118515"/>
            <a:ext cx="4126992" cy="1868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dirty="0">
                <a:solidFill>
                  <a:srgbClr val="B97A0B"/>
                </a:solidFill>
                <a:latin typeface="Segoe UI"/>
              </a:rPr>
              <a:t>Stage 1 </a:t>
            </a:r>
            <a:r>
              <a:rPr sz="1600" b="0" i="0" dirty="0">
                <a:solidFill>
                  <a:srgbClr val="1F2933"/>
                </a:solidFill>
                <a:latin typeface="Segoe UI"/>
              </a:rPr>
              <a:t>two-pass cosine-screened median (clean reference).   </a:t>
            </a:r>
            <a:endParaRPr lang="en-IN" sz="1600" b="0" i="0" dirty="0">
              <a:solidFill>
                <a:srgbClr val="1F2933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dirty="0">
                <a:solidFill>
                  <a:srgbClr val="B97A0B"/>
                </a:solidFill>
                <a:latin typeface="Segoe UI"/>
              </a:rPr>
              <a:t>Stage 2 </a:t>
            </a:r>
            <a:r>
              <a:rPr sz="1600" b="0" i="0" dirty="0">
                <a:solidFill>
                  <a:srgbClr val="1F2933"/>
                </a:solidFill>
                <a:latin typeface="Segoe UI"/>
              </a:rPr>
              <a:t>adaptive MAD Euclidean gate — the only hard filter. 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 dirty="0">
                <a:solidFill>
                  <a:srgbClr val="B97A0B"/>
                </a:solidFill>
                <a:latin typeface="Segoe UI"/>
              </a:rPr>
              <a:t>Stage 3 </a:t>
            </a:r>
            <a:r>
              <a:rPr sz="1600" b="0" i="0" dirty="0">
                <a:solidFill>
                  <a:srgbClr val="1F2933"/>
                </a:solidFill>
                <a:latin typeface="Segoe UI"/>
              </a:rPr>
              <a:t>soft credit score fuses volume, cosine penalty α·Pₖ, and reputation </a:t>
            </a:r>
            <a:r>
              <a:rPr sz="1600" b="0" i="0" dirty="0" err="1">
                <a:solidFill>
                  <a:srgbClr val="1F2933"/>
                </a:solidFill>
                <a:latin typeface="Segoe UI"/>
              </a:rPr>
              <a:t>λR</a:t>
            </a:r>
            <a:r>
              <a:rPr sz="1600" b="0" i="0" dirty="0">
                <a:solidFill>
                  <a:srgbClr val="1F2933"/>
                </a:solidFill>
                <a:latin typeface="Segoe UI"/>
              </a:rPr>
              <a:t>ₖ into the weights wₖ.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49A557-18A6-DDBF-B6B9-3F2778ED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88" y="997977"/>
            <a:ext cx="7106806" cy="58738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Step 1: Local Training &amp; Pseudo-Gradients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0" y="548640"/>
            <a:ext cx="1417320" cy="47548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663273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E3A54E"/>
                </a:solidFill>
                <a:latin typeface="Consolas"/>
              </a:rPr>
              <a:t>O(</a:t>
            </a:r>
            <a:r>
              <a:rPr lang="en-IN" sz="1600" b="1" i="1" dirty="0" err="1">
                <a:solidFill>
                  <a:srgbClr val="E3A54E"/>
                </a:solidFill>
                <a:latin typeface="Consolas"/>
              </a:rPr>
              <a:t>kd</a:t>
            </a:r>
            <a:r>
              <a:rPr sz="1600" b="1" i="0" dirty="0">
                <a:solidFill>
                  <a:srgbClr val="E3A54E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17904"/>
            <a:ext cx="10744200" cy="12344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06" y="1959176"/>
            <a:ext cx="4488294" cy="430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3008376"/>
            <a:ext cx="10561320" cy="3346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0">
                <a:solidFill>
                  <a:srgbClr val="1F2933"/>
                </a:solidFill>
                <a:latin typeface="Segoe UI"/>
              </a:rPr>
              <a:t>Server broadcasts the global model; each client k trains locally and returns weights wₖ and claimed sample size nₖ.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1">
                <a:solidFill>
                  <a:srgbClr val="0E2A47"/>
                </a:solidFill>
                <a:latin typeface="Segoe UI"/>
              </a:rPr>
              <a:t>Aegis scores in gradient (delta) space — robust to the shared initialisation — but aggregates the approved clients' weights.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Step 2: Two-Pass Median Decontamination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0" y="548640"/>
            <a:ext cx="1417320" cy="47548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663273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E3A54E"/>
                </a:solidFill>
                <a:latin typeface="Consolas"/>
              </a:rPr>
              <a:t>O(</a:t>
            </a:r>
            <a:r>
              <a:rPr sz="1600" b="1" i="1" dirty="0" err="1">
                <a:solidFill>
                  <a:srgbClr val="E3A54E"/>
                </a:solidFill>
                <a:latin typeface="Consolas"/>
              </a:rPr>
              <a:t>kd</a:t>
            </a:r>
            <a:r>
              <a:rPr sz="1600" b="1" i="0" dirty="0">
                <a:solidFill>
                  <a:srgbClr val="E3A54E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17904"/>
            <a:ext cx="10744200" cy="22860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00" y="1664208"/>
            <a:ext cx="7378238" cy="1993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059936"/>
            <a:ext cx="10561320" cy="22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0">
                <a:solidFill>
                  <a:srgbClr val="1F2933"/>
                </a:solidFill>
                <a:latin typeface="Segoe UI"/>
              </a:rPr>
              <a:t>Pass 1 screens strongly anti-aligned updates (cos &lt; τ) out of the median pool; Pass 2 recomputes a debiased clean center.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1">
                <a:solidFill>
                  <a:srgbClr val="0E2A47"/>
                </a:solidFill>
                <a:latin typeface="Segoe UI"/>
              </a:rPr>
              <a:t>Defeats Center Drag: IPM / sign-flip can no longer tilt the reference that every downstream score depends 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0">
                <a:solidFill>
                  <a:srgbClr val="5C6B7B"/>
                </a:solidFill>
                <a:latin typeface="Segoe UI"/>
              </a:rPr>
              <a:t>τ = −0.3 is deliberately lenient — honest Non-IID specialists (mildly negative cosine) are retained.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Step 3: Dual Anomaly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0" y="548640"/>
            <a:ext cx="1417320" cy="47548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663273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E3A54E"/>
                </a:solidFill>
                <a:latin typeface="Consolas"/>
              </a:rPr>
              <a:t>O(</a:t>
            </a:r>
            <a:r>
              <a:rPr sz="1600" b="1" i="1" dirty="0" err="1">
                <a:solidFill>
                  <a:srgbClr val="E3A54E"/>
                </a:solidFill>
                <a:latin typeface="Consolas"/>
              </a:rPr>
              <a:t>kd</a:t>
            </a:r>
            <a:r>
              <a:rPr sz="1600" b="1" i="0" dirty="0">
                <a:solidFill>
                  <a:srgbClr val="E3A54E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17904"/>
            <a:ext cx="10744200" cy="16916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ep3.png"/>
          <p:cNvPicPr>
            <a:picLocks noChangeAspect="1"/>
          </p:cNvPicPr>
          <p:nvPr/>
        </p:nvPicPr>
        <p:blipFill>
          <a:blip r:embed="rId2"/>
          <a:srcRect t="1" r="75376" b="-16604"/>
          <a:stretch>
            <a:fillRect/>
          </a:stretch>
        </p:blipFill>
        <p:spPr>
          <a:xfrm>
            <a:off x="1602167" y="1714690"/>
            <a:ext cx="5437730" cy="1527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3465576"/>
            <a:ext cx="1056132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0">
                <a:solidFill>
                  <a:srgbClr val="1F2933"/>
                </a:solidFill>
                <a:latin typeface="Segoe UI"/>
              </a:rPr>
              <a:t>Every client is re-scored against the clean median on two complementary axes: magnitude (Eₖ) and direction (Pₖ).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1">
                <a:solidFill>
                  <a:srgbClr val="0E2A47"/>
                </a:solidFill>
                <a:latin typeface="Segoe UI"/>
              </a:rPr>
              <a:t>Magnitude-only filters miss IPM; direction-only filters miss amplitude-scaled Sybil floods. Aegis uses both.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A47"/>
                </a:solidFill>
                <a:latin typeface="Segoe UI Semibold"/>
              </a:rPr>
              <a:t>Step 4: Adaptive MAD Thresholding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0" y="548640"/>
            <a:ext cx="1417320" cy="47548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663273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E3A54E"/>
                </a:solidFill>
                <a:latin typeface="Consolas"/>
              </a:rPr>
              <a:t>O(</a:t>
            </a:r>
            <a:r>
              <a:rPr sz="1600" b="1" i="1" dirty="0">
                <a:solidFill>
                  <a:srgbClr val="E3A54E"/>
                </a:solidFill>
                <a:latin typeface="Consolas"/>
              </a:rPr>
              <a:t>k</a:t>
            </a:r>
            <a:r>
              <a:rPr sz="1600" b="1" i="0" dirty="0">
                <a:solidFill>
                  <a:srgbClr val="E3A54E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17904"/>
            <a:ext cx="10744200" cy="26060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874" y="1664208"/>
            <a:ext cx="6297490" cy="2313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379976"/>
            <a:ext cx="10561320" cy="134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50" b="0" dirty="0">
                <a:solidFill>
                  <a:srgbClr val="1F2933"/>
                </a:solidFill>
                <a:latin typeface="Segoe UI"/>
              </a:rPr>
              <a:t>MAD gives a breakdown-point-0.5 scale estimate; the multiplier k⁽ᵗ⁾ decays over warmup and relaxes with round variance (CV).</a:t>
            </a:r>
          </a:p>
          <a:p>
            <a:pPr marL="285750" indent="-285750"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450" b="1" dirty="0">
                <a:solidFill>
                  <a:srgbClr val="0E2A47"/>
                </a:solidFill>
                <a:latin typeface="Segoe UI"/>
              </a:rPr>
              <a:t>The floor </a:t>
            </a:r>
            <a:r>
              <a:rPr sz="1450" b="1" dirty="0" err="1">
                <a:solidFill>
                  <a:srgbClr val="0E2A47"/>
                </a:solidFill>
                <a:latin typeface="Segoe UI"/>
              </a:rPr>
              <a:t>k_floor</a:t>
            </a:r>
            <a:r>
              <a:rPr sz="1450" b="1" dirty="0">
                <a:solidFill>
                  <a:srgbClr val="0E2A47"/>
                </a:solidFill>
                <a:latin typeface="Segoe UI"/>
              </a:rPr>
              <a:t> = 4.0 prevents over-rejection of honest specialists in persistent Non-IID rounds. Euclidean is the only hard gate.</a:t>
            </a:r>
            <a:endParaRPr lang="en-US" sz="1450" b="1" dirty="0">
              <a:solidFill>
                <a:srgbClr val="0E2A47"/>
              </a:solidFill>
              <a:latin typeface="Segoe UI"/>
            </a:endParaRPr>
          </a:p>
          <a:p>
            <a:pPr marL="285750" indent="-285750">
              <a:lnSpc>
                <a:spcPct val="104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Segoe UI" panose="020B0502040204020203" pitchFamily="34" charset="0"/>
                <a:cs typeface="Segoe UI" panose="020B0502040204020203" pitchFamily="34" charset="0"/>
              </a:rPr>
              <a:t>Each hyperparameter sits at a robustness plateau (Appendix B). For example, the Pass-1 cosine threshold varies accuracy by only 1.36pp across a 10× range, proving Aegis doesn't depend on hand-tuning.</a:t>
            </a:r>
            <a:endParaRPr sz="1450" b="1" dirty="0">
              <a:solidFill>
                <a:srgbClr val="0E2A47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 ·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Step 5: Reputation &amp; Credit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0" y="548640"/>
            <a:ext cx="1417320" cy="47548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663273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E3A54E"/>
                </a:solidFill>
                <a:latin typeface="Consolas"/>
              </a:rPr>
              <a:t>O(</a:t>
            </a:r>
            <a:r>
              <a:rPr sz="1600" b="1" i="1" dirty="0">
                <a:solidFill>
                  <a:srgbClr val="E3A54E"/>
                </a:solidFill>
                <a:latin typeface="Consolas"/>
              </a:rPr>
              <a:t>m</a:t>
            </a:r>
            <a:r>
              <a:rPr sz="1600" b="1" i="0" dirty="0">
                <a:solidFill>
                  <a:srgbClr val="E3A54E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17904"/>
            <a:ext cx="10744200" cy="22402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ep5.png"/>
          <p:cNvPicPr>
            <a:picLocks noChangeAspect="1"/>
          </p:cNvPicPr>
          <p:nvPr/>
        </p:nvPicPr>
        <p:blipFill>
          <a:blip r:embed="rId2"/>
          <a:srcRect r="65548"/>
          <a:stretch>
            <a:fillRect/>
          </a:stretch>
        </p:blipFill>
        <p:spPr>
          <a:xfrm>
            <a:off x="1051560" y="1836339"/>
            <a:ext cx="6956702" cy="17229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014216"/>
            <a:ext cx="10561320" cy="2340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0">
                <a:solidFill>
                  <a:srgbClr val="1F2933"/>
                </a:solidFill>
                <a:latin typeface="Segoe UI"/>
              </a:rPr>
              <a:t>Volume clipping caps inflated-dataset spam; an EMA reputation Rₖ accumulates each client's persistent directional penalty.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1">
                <a:solidFill>
                  <a:srgbClr val="0E2A47"/>
                </a:solidFill>
                <a:latin typeface="Segoe UI"/>
              </a:rPr>
              <a:t>The cosine penalty is soft (α·Pₖ) — attackers are suppressed in the weight, never hard-excluded. This replaced the interim's hard cosine gate.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 ·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Step 6: Weighted Aggregation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0" y="548640"/>
            <a:ext cx="1417320" cy="47548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0" y="663273"/>
            <a:ext cx="1417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 dirty="0">
                <a:solidFill>
                  <a:srgbClr val="E3A54E"/>
                </a:solidFill>
                <a:latin typeface="Consolas"/>
              </a:rPr>
              <a:t>O(</a:t>
            </a:r>
            <a:r>
              <a:rPr sz="1600" b="1" i="1" dirty="0" err="1">
                <a:solidFill>
                  <a:srgbClr val="E3A54E"/>
                </a:solidFill>
                <a:latin typeface="Consolas"/>
              </a:rPr>
              <a:t>kd</a:t>
            </a:r>
            <a:r>
              <a:rPr sz="1600" b="1" i="0" dirty="0">
                <a:solidFill>
                  <a:srgbClr val="E3A54E"/>
                </a:solidFill>
                <a:latin typeface="Consolas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17904"/>
            <a:ext cx="10744200" cy="12344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706549"/>
            <a:ext cx="10104120" cy="8571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3008376"/>
            <a:ext cx="10561320" cy="3346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0">
                <a:solidFill>
                  <a:srgbClr val="1F2933"/>
                </a:solidFill>
                <a:latin typeface="Segoe UI"/>
              </a:rPr>
              <a:t>The new global model is the credit-weighted average of the approved clients' weights.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450" b="1">
                <a:solidFill>
                  <a:srgbClr val="0E2A47"/>
                </a:solidFill>
                <a:latin typeface="Segoe UI"/>
              </a:rPr>
              <a:t>No pairwise distance matrix is ever formed — this is what keeps the whole pipeline linear in 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Linear-Time Aggregation: O(kd)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81328"/>
            <a:ext cx="10744200" cy="914400"/>
          </a:xfrm>
          <a:prstGeom prst="roundRect">
            <a:avLst/>
          </a:prstGeom>
          <a:solidFill>
            <a:srgbClr val="F7E1AE"/>
          </a:solidFill>
          <a:ln w="12700">
            <a:solidFill>
              <a:srgbClr val="E3A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15" y="1591056"/>
            <a:ext cx="6206490" cy="7132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07592" y="2496312"/>
            <a:ext cx="543153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mplexity_verification_Aegis_Non-IID_-_Sign_F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542032"/>
            <a:ext cx="5340096" cy="3337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2542032"/>
            <a:ext cx="3840480" cy="333756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67004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Empirical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063240"/>
            <a:ext cx="345643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1">
                <a:solidFill>
                  <a:srgbClr val="0E2A47"/>
                </a:solidFill>
                <a:latin typeface="Segoe UI"/>
              </a:rPr>
              <a:t>Aggregation time grows linearly in client count k — linear fit R² = 0.9989.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0">
                <a:solidFill>
                  <a:srgbClr val="1F2933"/>
                </a:solidFill>
                <a:latin typeface="Segoe UI"/>
              </a:rPr>
              <a:t>Introselect medians + no pairwise matrix → O(kd), matching FedAvg's floor.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0">
                <a:solidFill>
                  <a:srgbClr val="1F2933"/>
                </a:solidFill>
                <a:latin typeface="Segoe UI"/>
              </a:rPr>
              <a:t>≈ 30× faster than Bulyan at K=30, d≈1.12M.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0">
                <a:solidFill>
                  <a:srgbClr val="1F2933"/>
                </a:solidFill>
                <a:latin typeface="Segoe UI"/>
              </a:rPr>
              <a:t>Server state: a 30-float EMA table (240 bytes) — fast failover.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B97A0B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A47"/>
                </a:solidFill>
                <a:latin typeface="Segoe UI Semibold"/>
              </a:rPr>
              <a:t>Theoretical Guarantees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17904"/>
            <a:ext cx="5285232" cy="22402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45919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Lemma 1 · Pass-1 neutralises IPM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47319"/>
            <a:ext cx="4892040" cy="757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1F2933"/>
                </a:solidFill>
                <a:latin typeface="Segoe UI"/>
              </a:rPr>
              <a:t>Any IPM vector −</a:t>
            </a:r>
            <a:r>
              <a:rPr sz="1600" b="0" i="0" dirty="0" err="1">
                <a:solidFill>
                  <a:srgbClr val="1F2933"/>
                </a:solidFill>
                <a:latin typeface="Segoe UI"/>
              </a:rPr>
              <a:t>ε·ḡ</a:t>
            </a:r>
            <a:r>
              <a:rPr lang="en-US" sz="1600" baseline="-25000" dirty="0" err="1">
                <a:solidFill>
                  <a:srgbClr val="1F2933"/>
                </a:solidFill>
                <a:latin typeface="Segoe UI"/>
              </a:rPr>
              <a:t>H</a:t>
            </a:r>
            <a:r>
              <a:rPr sz="1600" b="0" i="0" dirty="0">
                <a:solidFill>
                  <a:srgbClr val="1F2933"/>
                </a:solidFill>
                <a:latin typeface="Segoe UI"/>
              </a:rPr>
              <a:t> has cosine </a:t>
            </a:r>
            <a:r>
              <a:rPr lang="en-US" sz="1600" dirty="0">
                <a:solidFill>
                  <a:srgbClr val="1F2933"/>
                </a:solidFill>
                <a:latin typeface="Segoe UI"/>
              </a:rPr>
              <a:t>≈ -1 &lt; τ</a:t>
            </a:r>
            <a:r>
              <a:rPr sz="1600" b="0" i="0" dirty="0">
                <a:solidFill>
                  <a:srgbClr val="1F2933"/>
                </a:solidFill>
                <a:latin typeface="Segoe UI"/>
              </a:rPr>
              <a:t>, so it is removed from the median pool — the reference m₂ stays clean.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17904"/>
            <a:ext cx="5285232" cy="22402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19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Lemma 2 · Median breakdown point</a:t>
            </a:r>
          </a:p>
        </p:txBody>
      </p:sp>
      <p:pic>
        <p:nvPicPr>
          <p:cNvPr id="12" name="Picture 11" descr="lemm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65305"/>
            <a:ext cx="4937760" cy="2437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2750673"/>
            <a:ext cx="4892040" cy="997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1F2933"/>
                </a:solidFill>
                <a:latin typeface="Segoe UI"/>
              </a:rPr>
              <a:t>Breakdown-0.5 (f &lt; K/2) bounds the median reference, not the whole pipeline. End-to-end, Aegis stays graceful to f = 0.30 and collapses at f = 0.40 (detection → 0).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4069080"/>
          <a:ext cx="107442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Guarantee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Aegis bound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Source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Robustness (breakdown)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≤ 0.30 empirical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median ref. is breakdown-0.5 (f &lt; K/2, Lemma 2); end-to-end collapse at f = 0.40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Complexity (per round)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O(kd)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two-pass median, no pairwise distance matrix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Convergence 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O(1/√T)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SGD rate + κ_A·V_H heterogeneity + ζ_A residual (next slides)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6035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97A0B"/>
                </a:solidFill>
                <a:latin typeface="Segoe UI"/>
              </a:rPr>
              <a:t>The 0.5 breakdown point is the median reference's; end-to-end Aegis stays graceful to f = 0.30 (collapse at 0.40) — at the SGD rate and linear O(kd) cost.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F482E7B-1553-7922-E9D3-761B4D3D1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7" y="2163775"/>
            <a:ext cx="4892039" cy="5959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2A47"/>
                </a:solidFill>
                <a:latin typeface="Segoe UI Semibold"/>
              </a:rPr>
              <a:t>Convergence I — The Robustness Certificate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10744200" cy="1170432"/>
          </a:xfrm>
          <a:prstGeom prst="roundRect">
            <a:avLst/>
          </a:prstGeom>
          <a:solidFill>
            <a:srgbClr val="F7E1AE"/>
          </a:solidFill>
          <a:ln w="12700">
            <a:solidFill>
              <a:srgbClr val="E3A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rt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41" y="1554480"/>
            <a:ext cx="8859436" cy="950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157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2A47"/>
                </a:solidFill>
                <a:latin typeface="Segoe UI Semibold"/>
              </a:rPr>
              <a:t>The per-round aggregation error splits into three sources — each maps to one experimental regime: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456432" cy="2176272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3456432" cy="8229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255264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7D32"/>
                </a:solidFill>
                <a:latin typeface="Segoe UI Semibold"/>
              </a:rPr>
              <a:t>Honest reweighting distortion</a:t>
            </a:r>
          </a:p>
        </p:txBody>
      </p:sp>
      <p:pic>
        <p:nvPicPr>
          <p:cNvPr id="12" name="Picture 11" descr="cert_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99" y="3749039"/>
            <a:ext cx="2532073" cy="420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2688" y="4261104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B"/>
                </a:solidFill>
                <a:latin typeface="Segoe UI"/>
              </a:rPr>
              <a:t>Unequal honest weights distort the mean even with zero attackers.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882896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2E7D32"/>
                </a:solidFill>
                <a:latin typeface="Segoe UI"/>
              </a:rPr>
              <a:t>→  Byzantine Tax = 0.08 pp  (Aegis 76.08 vs </a:t>
            </a:r>
            <a:r>
              <a:rPr sz="1100" b="1" i="0" dirty="0" err="1">
                <a:solidFill>
                  <a:srgbClr val="2E7D32"/>
                </a:solidFill>
                <a:latin typeface="Segoe UI"/>
              </a:rPr>
              <a:t>FedAvg</a:t>
            </a:r>
            <a:r>
              <a:rPr sz="1100" b="1" i="0" dirty="0">
                <a:solidFill>
                  <a:srgbClr val="2E7D32"/>
                </a:solidFill>
                <a:latin typeface="Segoe UI"/>
              </a:rPr>
              <a:t> 76.16, no attack).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108960"/>
            <a:ext cx="3456432" cy="2176272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34840" y="3108960"/>
            <a:ext cx="3456432" cy="82296"/>
          </a:xfrm>
          <a:prstGeom prst="roundRect">
            <a:avLst/>
          </a:prstGeom>
          <a:solidFill>
            <a:srgbClr val="B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3255264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97A0B"/>
                </a:solidFill>
                <a:latin typeface="Segoe UI Semibold"/>
              </a:rPr>
              <a:t>Clipped volume leakage</a:t>
            </a:r>
          </a:p>
        </p:txBody>
      </p:sp>
      <p:pic>
        <p:nvPicPr>
          <p:cNvPr id="18" name="Picture 17" descr="cert_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971" y="3749039"/>
            <a:ext cx="708169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36007" y="4261104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B"/>
                </a:solidFill>
                <a:latin typeface="Segoe UI"/>
              </a:rPr>
              <a:t>Volume clipping caps every client's share at 2M, so spam cannot dominate.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4882896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97A0B"/>
                </a:solidFill>
                <a:latin typeface="Segoe UI"/>
              </a:rPr>
              <a:t>→  Volume-spam fully nullified  (≈ 74%, on par with no attack).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108960"/>
            <a:ext cx="3456432" cy="2176272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59" y="3108960"/>
            <a:ext cx="3456432" cy="822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3255264"/>
            <a:ext cx="3054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Segoe UI Semibold"/>
              </a:rPr>
              <a:t>Median contamination</a:t>
            </a:r>
          </a:p>
        </p:txBody>
      </p:sp>
      <p:pic>
        <p:nvPicPr>
          <p:cNvPr id="24" name="Picture 23" descr="cert_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820" y="3749039"/>
            <a:ext cx="1377111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39327" y="4261104"/>
            <a:ext cx="305409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C6B7B"/>
                </a:solidFill>
                <a:latin typeface="Segoe UI"/>
              </a:rPr>
              <a:t>Surviving Byzantine clients displace the median reference m₂ by Δ_m.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882896"/>
            <a:ext cx="30540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C0392B"/>
                </a:solidFill>
                <a:latin typeface="Segoe UI"/>
              </a:rPr>
              <a:t>→  ALIE drags m₂  ⇒  collapse to 10% (chance).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13248"/>
            <a:ext cx="10744200" cy="96012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47725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Score suppression keeps the Byzantine weight w_B small — and bounds all three terms:</a:t>
            </a:r>
          </a:p>
        </p:txBody>
      </p:sp>
      <p:pic>
        <p:nvPicPr>
          <p:cNvPr id="29" name="Picture 28" descr="wb_b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807" y="5760720"/>
            <a:ext cx="7989904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A47"/>
                </a:solidFill>
                <a:latin typeface="Segoe UI Semibold"/>
              </a:rPr>
              <a:t>Convergence II — Final Theorem &amp; Residual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26464"/>
            <a:ext cx="10744200" cy="1316736"/>
          </a:xfrm>
          <a:prstGeom prst="roundRect">
            <a:avLst/>
          </a:prstGeom>
          <a:solidFill>
            <a:srgbClr val="F7E1AE"/>
          </a:solidFill>
          <a:ln w="12700">
            <a:solidFill>
              <a:srgbClr val="E3A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nal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7981"/>
            <a:ext cx="10469880" cy="10537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834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Two terms vanish — two are Aegis-specific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36976"/>
            <a:ext cx="55321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0">
                <a:solidFill>
                  <a:srgbClr val="1F2933"/>
                </a:solidFill>
                <a:latin typeface="Segoe UI"/>
              </a:rPr>
              <a:t>Optimisation gap + SGD noise → 0 at the standard O(1/√T) rate as η_t decays.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1">
                <a:solidFill>
                  <a:srgbClr val="0E2A47"/>
                </a:solidFill>
                <a:latin typeface="Segoe UI"/>
              </a:rPr>
              <a:t>κ_A·V_H — honest-heterogeneity penalty: the price of unequal honest weighting; grows with the Non-IID variance V_H.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50" b="1">
                <a:solidFill>
                  <a:srgbClr val="C0392B"/>
                </a:solidFill>
                <a:latin typeface="Segoe UI"/>
              </a:rPr>
              <a:t>ζ_A — residual bias: the ONLY attack-driven, non-vanishing floor. Zero iff no attacker survives the filter.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07792"/>
            <a:ext cx="5074920" cy="22860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3035808"/>
            <a:ext cx="47091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Residual bias = two leakages</a:t>
            </a:r>
          </a:p>
        </p:txBody>
      </p:sp>
      <p:pic>
        <p:nvPicPr>
          <p:cNvPr id="12" name="Picture 11" descr="zeta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18253"/>
            <a:ext cx="4709160" cy="5176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0" y="4498848"/>
            <a:ext cx="4709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ζ_vol is bounded by volume clipping (spam nullified); ζ_med explodes when the median is poisoned (ALIE: f_A·r large, Δ_m large).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744200" cy="1005840"/>
          </a:xfrm>
          <a:prstGeom prst="roundRect">
            <a:avLst/>
          </a:prstGeom>
          <a:solidFill>
            <a:srgbClr val="F7E1AE"/>
          </a:solidFill>
          <a:ln w="12700">
            <a:solidFill>
              <a:srgbClr val="E3A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422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Corollary — perfect filtering recovers clean SGD:</a:t>
            </a:r>
          </a:p>
        </p:txBody>
      </p:sp>
      <p:pic>
        <p:nvPicPr>
          <p:cNvPr id="16" name="Picture 15" descr="perfect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810158"/>
            <a:ext cx="10332720" cy="2120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THE AEGIS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A47"/>
                </a:solidFill>
                <a:latin typeface="Segoe UI Semibold"/>
              </a:rPr>
              <a:t>Theory Meets Experiment — Filter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A47"/>
                </a:solidFill>
                <a:latin typeface="Segoe UI Semibold"/>
              </a:rPr>
              <a:t>The detection / false-negative panels are the empirical w_B — the convergence verdict tracks ζ_A exactly: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625170" y="1746504"/>
            <a:ext cx="358683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AGNOSTIC_Aegis_-_No_Attack_Ru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90" y="1792224"/>
            <a:ext cx="3495394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553712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Segoe UI Semibold"/>
              </a:rPr>
              <a:t>No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882896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Segoe UI"/>
              </a:rPr>
              <a:t>FN n/a · ζ_A = 0  →  75%  (κ_A = 3κ_H, honest distortion 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0202" y="1746504"/>
            <a:ext cx="358683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IAGNOSTIC_Full_Aegis_label_f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22" y="1792224"/>
            <a:ext cx="3495394" cy="2697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3400" y="4553712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E7D32"/>
                </a:solidFill>
                <a:latin typeface="Segoe UI Semibold"/>
              </a:rPr>
              <a:t>Label-Flip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882896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Segoe UI"/>
              </a:rPr>
              <a:t>FN 100→0%, detection→100%  ⇒  r→0, w_B→0, ζ_A small  →  74%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5234" y="1746504"/>
            <a:ext cx="3586834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IAGNOSTIC_Aegis_With_alie_At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954" y="1792224"/>
            <a:ext cx="3495394" cy="2697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28432" y="4553712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0392B"/>
                </a:solidFill>
                <a:latin typeface="Segoe UI Semibold"/>
              </a:rPr>
              <a:t>ALIE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4882896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F2933"/>
                </a:solidFill>
                <a:latin typeface="Segoe UI"/>
              </a:rPr>
              <a:t>FN stuck at 100%, detection 0%  ⇒  r→1, ζ_med large  →  10%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70448"/>
            <a:ext cx="10744200" cy="585216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5870448"/>
            <a:ext cx="91440" cy="585216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870448"/>
            <a:ext cx="10424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0E2A47"/>
                </a:solidFill>
                <a:latin typeface="Segoe UI"/>
              </a:rPr>
              <a:t>Converge </a:t>
            </a:r>
            <a:r>
              <a:rPr sz="1250" b="1" i="0" dirty="0" err="1">
                <a:solidFill>
                  <a:srgbClr val="0E2A47"/>
                </a:solidFill>
                <a:latin typeface="Segoe UI"/>
              </a:rPr>
              <a:t>iff</a:t>
            </a:r>
            <a:r>
              <a:rPr sz="1250" b="1" i="0" dirty="0">
                <a:solidFill>
                  <a:srgbClr val="0E2A47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0E2A47"/>
                </a:solidFill>
                <a:latin typeface="Segoe UI"/>
              </a:rPr>
              <a:t>ζ_A</a:t>
            </a:r>
            <a:r>
              <a:rPr sz="1250" b="1" i="0" dirty="0">
                <a:solidFill>
                  <a:srgbClr val="0E2A47"/>
                </a:solidFill>
                <a:latin typeface="Segoe UI"/>
              </a:rPr>
              <a:t> is small — and </a:t>
            </a:r>
            <a:r>
              <a:rPr sz="1250" b="1" i="0" dirty="0" err="1">
                <a:solidFill>
                  <a:srgbClr val="0E2A47"/>
                </a:solidFill>
                <a:latin typeface="Segoe UI"/>
              </a:rPr>
              <a:t>ζ_A</a:t>
            </a:r>
            <a:r>
              <a:rPr sz="1250" b="1" i="0" dirty="0">
                <a:solidFill>
                  <a:srgbClr val="0E2A47"/>
                </a:solidFill>
                <a:latin typeface="Segoe UI"/>
              </a:rPr>
              <a:t> is small </a:t>
            </a:r>
            <a:r>
              <a:rPr sz="1250" b="1" i="0" dirty="0" err="1">
                <a:solidFill>
                  <a:srgbClr val="0E2A47"/>
                </a:solidFill>
                <a:latin typeface="Segoe UI"/>
              </a:rPr>
              <a:t>iff</a:t>
            </a:r>
            <a:r>
              <a:rPr sz="1250" b="1" i="0" dirty="0">
                <a:solidFill>
                  <a:srgbClr val="0E2A47"/>
                </a:solidFill>
                <a:latin typeface="Segoe UI"/>
              </a:rPr>
              <a:t> the filter detects the attack. The theorem predicts every regime the experiments show.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183C60"/>
                </a:solidFill>
                <a:latin typeface="Segoe UI Light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3127248"/>
            <a:ext cx="1554480" cy="5486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PART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9184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Experimental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3484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2DE"/>
                </a:solidFill>
                <a:latin typeface="Segoe UI"/>
              </a:rPr>
              <a:t>CIFAR-10, 4-shard Non-IID, n = 30, f = 0.30, 1000 rounds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Experimental Apparatus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85232" cy="20574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85232" cy="91440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A47"/>
                </a:solidFill>
                <a:latin typeface="Segoe UI Semibold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214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97A0B"/>
                </a:solidFill>
                <a:latin typeface="Segoe UI"/>
              </a:rPr>
              <a:t>CIFAR-10 · 4-shard label sharding · α =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30 clients, ~1,664 samples each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~40% class coverage / client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Γ  10–50× the IID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5285232" cy="20574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1554480"/>
            <a:ext cx="5285232" cy="91440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A47"/>
                </a:solidFill>
                <a:latin typeface="Segoe UI Semibold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214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97A0B"/>
                </a:solidFill>
                <a:latin typeface="Segoe UI"/>
              </a:rPr>
              <a:t>ImprovedCNN · GroupNorm · Dropout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1460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4 conv + 2 FC, ~1.12M params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SGD, lr 0.01, momentum 0.8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1 local epoch, batch 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5285232" cy="20574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285232" cy="91440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977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A47"/>
                </a:solidFill>
                <a:latin typeface="Segoe UI Semibold"/>
              </a:rPr>
              <a:t>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616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97A0B"/>
                </a:solidFill>
                <a:latin typeface="Segoe UI"/>
              </a:rPr>
              <a:t>f = 0.30 (9/30), p_attack =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Sign-flip, Label-flip, Vol-spam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ALIE (z=1), IPM (ε=0.5)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Sybil (2 clones) → f_eff = 0.56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94760"/>
            <a:ext cx="5285232" cy="205740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9632" y="3794760"/>
            <a:ext cx="5285232" cy="91440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3977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A47"/>
                </a:solidFill>
                <a:latin typeface="Segoe UI Semibold"/>
              </a:rPr>
              <a:t>Baselines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3616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97A0B"/>
                </a:solidFill>
                <a:latin typeface="Segoe UI"/>
              </a:rPr>
              <a:t>Five robust aggregators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75488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FedAvg, CWMed, Multi-Krum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FoolsGold, Bulyan (f=0.20)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A54E"/>
                </a:solidFill>
                <a:latin typeface="Segoe UI"/>
              </a:rPr>
              <a:t>▪  </a:t>
            </a:r>
            <a:r>
              <a:rPr sz="1200" b="0">
                <a:solidFill>
                  <a:srgbClr val="1F2933"/>
                </a:solidFill>
                <a:latin typeface="Segoe UI"/>
              </a:rPr>
              <a:t>Best accuracy over 1000 rounds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26480"/>
            <a:ext cx="1078992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1" dirty="0">
                <a:solidFill>
                  <a:srgbClr val="5C6B7B"/>
                </a:solidFill>
                <a:latin typeface="Segoe UI"/>
              </a:rPr>
              <a:t>Our </a:t>
            </a:r>
            <a:r>
              <a:rPr lang="en-US" sz="1250" b="1" i="1" dirty="0">
                <a:solidFill>
                  <a:srgbClr val="5C6B7B"/>
                </a:solidFill>
                <a:latin typeface="Segoe UI"/>
              </a:rPr>
              <a:t>mean best across seeds </a:t>
            </a:r>
            <a:r>
              <a:rPr sz="1250" b="1" i="1" dirty="0">
                <a:solidFill>
                  <a:srgbClr val="5C6B7B"/>
                </a:solidFill>
                <a:latin typeface="Segoe UI"/>
              </a:rPr>
              <a:t>is 75.53 ± 0.22% — the hard accuracy limit set by this extreme Non-IID partition.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183C60"/>
                </a:solidFill>
                <a:latin typeface="Segoe UI Light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3127248"/>
            <a:ext cx="1554480" cy="5486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PART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9184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Results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3484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2DE"/>
                </a:solidFill>
                <a:latin typeface="Segoe UI"/>
              </a:rPr>
              <a:t>Per-attack robustness from the finalised experiments — one figure at a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The Byzantine Tax — Cost of Defence Under No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844888"/>
              </p:ext>
            </p:extLst>
          </p:nvPr>
        </p:nvGraphicFramePr>
        <p:xfrm>
          <a:off x="731520" y="1554480"/>
          <a:ext cx="67665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Aggregator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Best Acc (%)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Best Loss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Segoe UI Semibold"/>
                        </a:rPr>
                        <a:t>Byzantine Tax (pp)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1F2933"/>
                          </a:solidFill>
                          <a:latin typeface="Segoe UI"/>
                        </a:rPr>
                        <a:t>FedAvg</a:t>
                      </a:r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 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74.78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0.7248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Aegis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i="0" dirty="0">
                          <a:solidFill>
                            <a:srgbClr val="2E7D32"/>
                          </a:solidFill>
                          <a:latin typeface="Segoe UI"/>
                        </a:rPr>
                        <a:t>74.65</a:t>
                      </a:r>
                      <a:endParaRPr sz="1250" b="1" i="0" dirty="0">
                        <a:solidFill>
                          <a:srgbClr val="2E7D32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0.7255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i="0" dirty="0">
                          <a:solidFill>
                            <a:srgbClr val="2E7D32"/>
                          </a:solidFill>
                          <a:latin typeface="Segoe UI"/>
                        </a:rPr>
                        <a:t>0.13</a:t>
                      </a:r>
                      <a:endParaRPr sz="1250" b="1" i="0" dirty="0">
                        <a:solidFill>
                          <a:srgbClr val="2E7D32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FoolsGold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73.80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0.7628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0.98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CWMed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69.68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0.9064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5.10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Multi-Krum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69.36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0.8908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5.42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Bulyan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67.69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0.9723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7.09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9874" y="1554480"/>
            <a:ext cx="4389120" cy="416052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44466" y="1783080"/>
            <a:ext cx="39319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 dirty="0">
                <a:solidFill>
                  <a:srgbClr val="E3A54E"/>
                </a:solidFill>
                <a:latin typeface="Segoe UI Semibold"/>
              </a:rPr>
              <a:t>0.</a:t>
            </a:r>
            <a:r>
              <a:rPr lang="en-US" sz="4000" b="1" i="0" dirty="0">
                <a:solidFill>
                  <a:srgbClr val="E3A54E"/>
                </a:solidFill>
                <a:latin typeface="Segoe UI Semibold"/>
              </a:rPr>
              <a:t>13</a:t>
            </a:r>
            <a:r>
              <a:rPr sz="4000" b="1" i="0" dirty="0">
                <a:solidFill>
                  <a:srgbClr val="E3A54E"/>
                </a:solidFill>
                <a:latin typeface="Segoe UI Semibold"/>
              </a:rPr>
              <a:t>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4466" y="25146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Aegis overhead vs FedAvg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4466" y="3108960"/>
            <a:ext cx="3931920" cy="12825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dirty="0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 dirty="0">
                <a:solidFill>
                  <a:srgbClr val="FFFFFF"/>
                </a:solidFill>
                <a:latin typeface="Segoe UI"/>
              </a:rPr>
              <a:t>Aegis is effectively free when there are no attacks.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dirty="0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0" dirty="0" err="1">
                <a:solidFill>
                  <a:srgbClr val="C6D2DE"/>
                </a:solidFill>
                <a:latin typeface="Segoe UI"/>
              </a:rPr>
              <a:t>Bulyan</a:t>
            </a:r>
            <a:r>
              <a:rPr sz="1300" b="0" dirty="0">
                <a:solidFill>
                  <a:srgbClr val="C6D2DE"/>
                </a:solidFill>
                <a:latin typeface="Segoe UI"/>
              </a:rPr>
              <a:t> loses </a:t>
            </a:r>
            <a:r>
              <a:rPr lang="en-US" sz="1300" b="0" dirty="0">
                <a:solidFill>
                  <a:srgbClr val="C6D2DE"/>
                </a:solidFill>
                <a:latin typeface="Segoe UI"/>
              </a:rPr>
              <a:t>7.09</a:t>
            </a:r>
            <a:r>
              <a:rPr sz="1300" b="0" dirty="0">
                <a:solidFill>
                  <a:srgbClr val="C6D2DE"/>
                </a:solidFill>
                <a:latin typeface="Segoe UI"/>
              </a:rPr>
              <a:t> pp because Krum selection collapses to a single sector.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dirty="0">
                <a:solidFill>
                  <a:srgbClr val="E3A54E"/>
                </a:solidFill>
                <a:latin typeface="Segoe UI"/>
              </a:rPr>
              <a:t>▪  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This proves our adaptive floor successfully preserves honest specialists.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B97A0B"/>
                </a:solidFill>
                <a:latin typeface="Segoe UI Semibold"/>
              </a:rPr>
              <a:t>RESULTS ·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 dirty="0">
                <a:solidFill>
                  <a:srgbClr val="0E2A47"/>
                </a:solidFill>
                <a:latin typeface="Segoe UI Semibold"/>
              </a:rPr>
              <a:t>Convergence Stability — Three Seeds, No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20556" y="1435608"/>
            <a:ext cx="776612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egis_none_manual_accurac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76" y="1481328"/>
            <a:ext cx="7674686" cy="42245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1F2933"/>
                </a:solidFill>
                <a:latin typeface="Segoe UI"/>
              </a:rPr>
              <a:t>Mean </a:t>
            </a:r>
            <a:r>
              <a:rPr sz="1400" b="1" i="0" dirty="0">
                <a:solidFill>
                  <a:srgbClr val="2E7D32"/>
                </a:solidFill>
                <a:latin typeface="Segoe UI"/>
              </a:rPr>
              <a:t>75.53 ± 0.22%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across seeds 42 / 123 / 456 — the Non-IID oracle ceiling; single-seed results are representative.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A47"/>
                </a:solidFill>
                <a:latin typeface="Segoe UI Semibold"/>
              </a:rPr>
              <a:t>Robust Aggregators vs FedAvg — No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24461" y="1435608"/>
            <a:ext cx="7758317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d_avg+aegis+cw_med+multi_krum_none_manual_accurac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81" y="1481328"/>
            <a:ext cx="7666877" cy="42245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956756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 dirty="0">
                <a:solidFill>
                  <a:srgbClr val="1F2933"/>
                </a:solidFill>
                <a:latin typeface="Segoe UI"/>
              </a:rPr>
              <a:t>Aegis tracks </a:t>
            </a:r>
            <a:r>
              <a:rPr sz="1400" b="0" i="0" dirty="0" err="1">
                <a:solidFill>
                  <a:srgbClr val="1F2933"/>
                </a:solidFill>
                <a:latin typeface="Segoe UI"/>
              </a:rPr>
              <a:t>FedAvg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(</a:t>
            </a:r>
            <a:r>
              <a:rPr lang="en-US" sz="1400" dirty="0">
                <a:solidFill>
                  <a:srgbClr val="1F2933"/>
                </a:solidFill>
                <a:latin typeface="Segoe UI"/>
              </a:rPr>
              <a:t>74.78 vs 74.65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); </a:t>
            </a:r>
            <a:r>
              <a:rPr sz="1400" b="1" i="0" dirty="0" err="1">
                <a:solidFill>
                  <a:srgbClr val="C0392B"/>
                </a:solidFill>
                <a:latin typeface="Segoe UI"/>
              </a:rPr>
              <a:t>CWMed</a:t>
            </a:r>
            <a:r>
              <a:rPr sz="1400" b="1" i="0" dirty="0">
                <a:solidFill>
                  <a:srgbClr val="C0392B"/>
                </a:solidFill>
                <a:latin typeface="Segoe UI"/>
              </a:rPr>
              <a:t> and Krum plateau 4–5 pp lower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— the Byzantine Tax of centroid filters under Non-IID.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C938-7389-3625-E7B3-1F2867D5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5D8FA4-6007-4176-0EEF-711F4458C34F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A436F-BDC2-2B6B-26F0-FEA3E43B6F0F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BASELINE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9BA55-24DA-A6B7-89A6-8AD98A332305}"/>
              </a:ext>
            </a:extLst>
          </p:cNvPr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A47"/>
                </a:solidFill>
                <a:latin typeface="Segoe UI Semibold"/>
              </a:rPr>
              <a:t>Robust Aggregators vs FedAvg — No Attack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946961-6B68-3280-CEEB-0248D96F8061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A4721CF-2AA0-0602-DDC5-8EB61EBE3327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4902A9-8062-9F22-6AC7-1F200E7B36A8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F29E2-8A6D-BD0E-8448-A319BCB3A2CD}"/>
              </a:ext>
            </a:extLst>
          </p:cNvPr>
          <p:cNvSpPr txBox="1"/>
          <p:nvPr/>
        </p:nvSpPr>
        <p:spPr>
          <a:xfrm>
            <a:off x="960120" y="6064478"/>
            <a:ext cx="1057960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400" b="0" i="0" dirty="0">
                <a:solidFill>
                  <a:srgbClr val="1F2933"/>
                </a:solidFill>
                <a:latin typeface="Segoe UI"/>
              </a:rPr>
              <a:t>A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egis tracks </a:t>
            </a:r>
            <a:r>
              <a:rPr sz="1400" b="0" i="0" dirty="0" err="1">
                <a:solidFill>
                  <a:srgbClr val="1F2933"/>
                </a:solidFill>
                <a:latin typeface="Segoe UI"/>
              </a:rPr>
              <a:t>FedAvg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(</a:t>
            </a:r>
            <a:r>
              <a:rPr lang="en-US" sz="1400" b="0" i="0" dirty="0">
                <a:solidFill>
                  <a:srgbClr val="1F2933"/>
                </a:solidFill>
                <a:latin typeface="Segoe UI"/>
              </a:rPr>
              <a:t>74.78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vs </a:t>
            </a:r>
            <a:r>
              <a:rPr lang="en-US" sz="1400" b="0" i="0" dirty="0">
                <a:solidFill>
                  <a:srgbClr val="1F2933"/>
                </a:solidFill>
                <a:latin typeface="Segoe UI"/>
              </a:rPr>
              <a:t>74.65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); </a:t>
            </a:r>
            <a:r>
              <a:rPr sz="1400" b="1" i="0" dirty="0" err="1">
                <a:solidFill>
                  <a:srgbClr val="C0392B"/>
                </a:solidFill>
                <a:latin typeface="Segoe UI"/>
              </a:rPr>
              <a:t>CWMed</a:t>
            </a:r>
            <a:r>
              <a:rPr sz="1400" b="1" i="0" dirty="0">
                <a:solidFill>
                  <a:srgbClr val="C0392B"/>
                </a:solidFill>
                <a:latin typeface="Segoe UI"/>
              </a:rPr>
              <a:t> and Krum plateau 4–5 pp lower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— the Byzantine Tax of centroid filters under Non-IID.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A0343D-75A3-5036-C686-2D4C30C4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505" y="1439196"/>
            <a:ext cx="6549513" cy="436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62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B129-1360-BB7C-56D4-3CF37DC8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57ECFA-3AFB-AC52-C85E-1D0E8AB168E5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5CF6A-7E64-B853-89AA-86B5F9D18424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BASELINE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3AD98-A2F4-5CE6-8E35-F38C43B7B901}"/>
              </a:ext>
            </a:extLst>
          </p:cNvPr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A47"/>
                </a:solidFill>
                <a:latin typeface="Segoe UI Semibold"/>
              </a:rPr>
              <a:t>Robust Aggregators vs FedAvg — No Attack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6AB15-F14A-209C-8D83-3B1871A3FFFE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A6928C-5EE9-F487-9B99-DDA9AD6371B3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60CE2A7-7241-CCBA-07FA-BB4023AEA80E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A360B-D28C-363F-7ABD-201C79EE2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80" y="1341218"/>
            <a:ext cx="8180439" cy="450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6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BC0A-EDEE-9710-10C5-F62E7D15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E2E9D3-FEB0-C7D0-A24A-48B2A7F0519F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D39E7-4B0E-8788-647D-056B3EFD2DE7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BASELINE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A6E34E-D827-4590-DBC6-9731529C8762}"/>
              </a:ext>
            </a:extLst>
          </p:cNvPr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A47"/>
                </a:solidFill>
                <a:latin typeface="Segoe UI Semibold"/>
              </a:rPr>
              <a:t>Robust Aggregators vs FedAvg — No Attack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520194-CD9D-661F-780E-3D98B1A980E6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94B588-C6E5-2CDF-42CF-504120ECAAC5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78271E-3CC1-5582-01DE-788E61C00D98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21B99A-47C4-3BD6-B379-285E91A95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227" y="1410969"/>
            <a:ext cx="6613545" cy="440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59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Aegis </a:t>
            </a:r>
            <a:r>
              <a:rPr lang="en-IN" sz="2600" b="1" i="0" dirty="0">
                <a:solidFill>
                  <a:srgbClr val="0E2A47"/>
                </a:solidFill>
                <a:latin typeface="Segoe UI Semibold"/>
              </a:rPr>
              <a:t>– No </a:t>
            </a:r>
            <a:r>
              <a:rPr sz="2600" b="1" i="0" dirty="0">
                <a:solidFill>
                  <a:srgbClr val="0E2A47"/>
                </a:solidFill>
                <a:latin typeface="Segoe UI Semibold"/>
              </a:rPr>
              <a:t>Attack</a:t>
            </a:r>
            <a:r>
              <a:rPr lang="en-IN" sz="2600" b="1" i="0" dirty="0">
                <a:solidFill>
                  <a:srgbClr val="0E2A47"/>
                </a:solidFill>
                <a:latin typeface="Segoe UI Semibold"/>
              </a:rPr>
              <a:t>, Sign Flip, Label Flip &amp; IPM</a:t>
            </a:r>
            <a:endParaRPr sz="26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3"/>
                </a:solidFill>
                <a:latin typeface="Segoe UI"/>
              </a:rPr>
              <a:t>No-attack and label-flip converge together (~74%); sign-flip and IPM are </a:t>
            </a:r>
            <a:r>
              <a:rPr sz="1350" b="1" i="0">
                <a:solidFill>
                  <a:srgbClr val="2E7D32"/>
                </a:solidFill>
                <a:latin typeface="Segoe UI"/>
              </a:rPr>
              <a:t>tightly bounded, not collapsed</a:t>
            </a:r>
            <a:r>
              <a:rPr sz="1350" b="0" i="0">
                <a:solidFill>
                  <a:srgbClr val="1F2933"/>
                </a:solidFill>
                <a:latin typeface="Segoe UI"/>
              </a:rPr>
              <a:t> — two-pass median limits the damage.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B5C4C5-405C-E96C-F7DF-802BAE79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117" y="1333195"/>
            <a:ext cx="7905135" cy="435581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5809-AC2F-660C-6D80-CE95C7CB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869BCC-0269-8C11-E505-2A54E057F642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1FE8F-C008-2CEA-E1AE-211134CF6CEF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AEGIS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3025F-BED9-92EB-8905-BA39AF30E4A3}"/>
              </a:ext>
            </a:extLst>
          </p:cNvPr>
          <p:cNvSpPr txBox="1"/>
          <p:nvPr/>
        </p:nvSpPr>
        <p:spPr>
          <a:xfrm>
            <a:off x="731520" y="6400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Aegis </a:t>
            </a:r>
            <a:r>
              <a:rPr lang="en-IN" sz="2600" b="1" i="0" dirty="0">
                <a:solidFill>
                  <a:srgbClr val="0E2A47"/>
                </a:solidFill>
                <a:latin typeface="Segoe UI Semibold"/>
              </a:rPr>
              <a:t>– No </a:t>
            </a:r>
            <a:r>
              <a:rPr sz="2600" b="1" i="0" dirty="0">
                <a:solidFill>
                  <a:srgbClr val="0E2A47"/>
                </a:solidFill>
                <a:latin typeface="Segoe UI Semibold"/>
              </a:rPr>
              <a:t>Attack</a:t>
            </a:r>
            <a:r>
              <a:rPr lang="en-IN" sz="2600" b="1" i="0" dirty="0">
                <a:solidFill>
                  <a:srgbClr val="0E2A47"/>
                </a:solidFill>
                <a:latin typeface="Segoe UI Semibold"/>
              </a:rPr>
              <a:t>, Sign Flip, Label Flip &amp; IPM</a:t>
            </a:r>
            <a:endParaRPr sz="26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BA2E52-DB83-277E-6EB2-683070C4AD48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3D5E3-DF88-6C1A-82C8-DAE9F7F86BB6}"/>
              </a:ext>
            </a:extLst>
          </p:cNvPr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20C5135-AF71-F994-7BAD-43A8D58D5114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6B608C6-397B-D653-2339-8B5201824FB9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0F85F-06DA-FE2F-D6E3-8EFDF387E942}"/>
              </a:ext>
            </a:extLst>
          </p:cNvPr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3"/>
                </a:solidFill>
                <a:latin typeface="Segoe UI"/>
              </a:rPr>
              <a:t>No-attack and label-flip converge together (~74%); sign-flip and IPM are </a:t>
            </a:r>
            <a:r>
              <a:rPr sz="1350" b="1" i="0">
                <a:solidFill>
                  <a:srgbClr val="2E7D32"/>
                </a:solidFill>
                <a:latin typeface="Segoe UI"/>
              </a:rPr>
              <a:t>tightly bounded, not collapsed</a:t>
            </a:r>
            <a:r>
              <a:rPr sz="1350" b="0" i="0">
                <a:solidFill>
                  <a:srgbClr val="1F2933"/>
                </a:solidFill>
                <a:latin typeface="Segoe UI"/>
              </a:rPr>
              <a:t> — two-pass median limits the damage.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44384B-5BC4-5F69-1F77-0B8397404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370" y="1450634"/>
            <a:ext cx="6479802" cy="431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51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B97A0B"/>
                </a:solidFill>
                <a:latin typeface="Segoe UI Semibold"/>
              </a:rPr>
              <a:t>RESULTS ·</a:t>
            </a:r>
            <a:r>
              <a:rPr lang="en-IN" sz="1200" b="1" i="0" dirty="0">
                <a:solidFill>
                  <a:srgbClr val="B97A0B"/>
                </a:solidFill>
                <a:latin typeface="Segoe UI Semibold"/>
              </a:rPr>
              <a:t>Aegis</a:t>
            </a:r>
            <a:endParaRPr sz="1200" b="1" i="0" dirty="0">
              <a:solidFill>
                <a:srgbClr val="B97A0B"/>
              </a:solidFill>
              <a:latin typeface="Segoe UI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IN" sz="2600" b="1" dirty="0">
                <a:solidFill>
                  <a:srgbClr val="0E2A47"/>
                </a:solidFill>
                <a:latin typeface="Segoe UI Semibold"/>
              </a:rPr>
              <a:t>Aegis - </a:t>
            </a:r>
            <a:r>
              <a:rPr sz="2600" b="1" i="0" dirty="0">
                <a:solidFill>
                  <a:srgbClr val="0E2A47"/>
                </a:solidFill>
                <a:latin typeface="Segoe UI Semibold"/>
              </a:rPr>
              <a:t>Volume-Spam, ALIE &amp; Sybil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F2933"/>
                </a:solidFill>
                <a:latin typeface="Segoe UI"/>
              </a:rPr>
              <a:t>Volume-spam is fully nullified (74%) by median clipping; </a:t>
            </a:r>
            <a:r>
              <a:rPr sz="1350" b="1" i="0">
                <a:solidFill>
                  <a:srgbClr val="C0392B"/>
                </a:solidFill>
                <a:latin typeface="Segoe UI"/>
              </a:rPr>
              <a:t>ALIE and dense Sybil clusters overwhelm the median anchor</a:t>
            </a:r>
            <a:r>
              <a:rPr sz="1350" b="0" i="0">
                <a:solidFill>
                  <a:srgbClr val="1F2933"/>
                </a:solidFill>
                <a:latin typeface="Segoe UI"/>
              </a:rPr>
              <a:t>.</a:t>
            </a:r>
          </a:p>
        </p:txBody>
      </p:sp>
      <p:pic>
        <p:nvPicPr>
          <p:cNvPr id="13" name="Picture 12" descr="aegis_none+volume_spam+alie+sybil_comparison_accuracy_line.png">
            <a:extLst>
              <a:ext uri="{FF2B5EF4-FFF2-40B4-BE49-F238E27FC236}">
                <a16:creationId xmlns:a16="http://schemas.microsoft.com/office/drawing/2014/main" id="{23495F9C-4385-96B0-4708-A2CAF629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869" y="1333195"/>
            <a:ext cx="8264865" cy="454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994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SIGN-FLIP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A47"/>
                </a:solidFill>
                <a:latin typeface="Segoe UI Semibold"/>
              </a:rPr>
              <a:t>Sign-Flip — All Aggregators (f = 0.30)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25417" y="1435608"/>
            <a:ext cx="77564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ed_avg+aegis+cw_med+multi_krum+fools_gold+bulyan_sign_flip_manual_accurac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78" y="1611173"/>
            <a:ext cx="7664965" cy="42245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Segoe UI"/>
              </a:rPr>
              <a:t>Aegis 66.6% — no early collapse; </a:t>
            </a:r>
            <a:r>
              <a:rPr sz="1400" b="1" i="0">
                <a:solidFill>
                  <a:srgbClr val="C0392B"/>
                </a:solidFill>
                <a:latin typeface="Segoe UI"/>
              </a:rPr>
              <a:t>FedAvg crashes to 40%, FoolsGold to 34%</a:t>
            </a:r>
            <a:r>
              <a:rPr sz="1400" b="0" i="0">
                <a:solidFill>
                  <a:srgbClr val="1F2933"/>
                </a:solidFill>
                <a:latin typeface="Segoe UI"/>
              </a:rPr>
              <a:t>; Krum (70%) leads on this pure-magnitude attack.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LABEL-FLIP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Label-Flip — All Aggregators (f = 0.30)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24461" y="1435608"/>
            <a:ext cx="7758317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Segoe UI"/>
              </a:rPr>
              <a:t>Aegis is the strongest defence at </a:t>
            </a:r>
            <a:r>
              <a:rPr sz="1400" b="1" i="0">
                <a:solidFill>
                  <a:srgbClr val="2E7D32"/>
                </a:solidFill>
                <a:latin typeface="Segoe UI"/>
              </a:rPr>
              <a:t>74.34%</a:t>
            </a:r>
            <a:r>
              <a:rPr sz="1400" b="0" i="0">
                <a:solidFill>
                  <a:srgbClr val="1F2933"/>
                </a:solidFill>
                <a:latin typeface="Segoe UI"/>
              </a:rPr>
              <a:t> — within 1.7 pp of the clean ceiling; the MAD gate intercepts the corrupt gradients.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DA804B-FBF0-4F13-F4A8-C13E096D5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19" y="1654301"/>
            <a:ext cx="7543800" cy="415671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IPM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167679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Inner-Product Manipulation (ε = 0.5, Omniscient)</a:t>
            </a:r>
            <a:r>
              <a:rPr lang="en-US" sz="2600" b="1" i="0" dirty="0">
                <a:solidFill>
                  <a:srgbClr val="0E2A47"/>
                </a:solidFill>
                <a:latin typeface="Segoe UI Semibold"/>
              </a:rPr>
              <a:t> - </a:t>
            </a:r>
            <a:r>
              <a:rPr lang="en-IN" sz="2600" b="1" dirty="0">
                <a:solidFill>
                  <a:srgbClr val="0E2A47"/>
                </a:solidFill>
                <a:latin typeface="Segoe UI Semibold"/>
              </a:rPr>
              <a:t>All Aggregators (f = 0.30)</a:t>
            </a:r>
            <a:endParaRPr sz="26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956757"/>
            <a:ext cx="104241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1F2933"/>
                </a:solidFill>
                <a:latin typeface="Segoe UI"/>
              </a:rPr>
              <a:t>Aegis holds 63.3% by aggregate dilution while </a:t>
            </a:r>
            <a:r>
              <a:rPr sz="1400" b="1" i="0" dirty="0" err="1">
                <a:solidFill>
                  <a:srgbClr val="C0392B"/>
                </a:solidFill>
                <a:latin typeface="Segoe UI"/>
              </a:rPr>
              <a:t>CWMed</a:t>
            </a:r>
            <a:r>
              <a:rPr sz="1400" b="1" i="0" dirty="0">
                <a:solidFill>
                  <a:srgbClr val="C0392B"/>
                </a:solidFill>
                <a:latin typeface="Segoe UI"/>
              </a:rPr>
              <a:t> / Krum / </a:t>
            </a:r>
            <a:r>
              <a:rPr sz="1400" b="1" i="0" dirty="0" err="1">
                <a:solidFill>
                  <a:srgbClr val="C0392B"/>
                </a:solidFill>
                <a:latin typeface="Segoe UI"/>
              </a:rPr>
              <a:t>Bulyan</a:t>
            </a:r>
            <a:r>
              <a:rPr sz="1400" b="1" i="0" dirty="0">
                <a:solidFill>
                  <a:srgbClr val="C0392B"/>
                </a:solidFill>
                <a:latin typeface="Segoe UI"/>
              </a:rPr>
              <a:t> collapse to ≤ 17%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; only </a:t>
            </a:r>
            <a:r>
              <a:rPr sz="1400" b="0" i="0" dirty="0" err="1">
                <a:solidFill>
                  <a:srgbClr val="1F2933"/>
                </a:solidFill>
                <a:latin typeface="Segoe UI"/>
              </a:rPr>
              <a:t>FoolsGold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</a:t>
            </a:r>
            <a:r>
              <a:rPr lang="en-IN" sz="1400" b="0" i="0" dirty="0">
                <a:solidFill>
                  <a:srgbClr val="1F2933"/>
                </a:solidFill>
                <a:latin typeface="Segoe UI"/>
              </a:rPr>
              <a:t>and </a:t>
            </a:r>
            <a:r>
              <a:rPr lang="en-IN" sz="1400" b="0" i="0" dirty="0" err="1">
                <a:solidFill>
                  <a:srgbClr val="1F2933"/>
                </a:solidFill>
                <a:latin typeface="Segoe UI"/>
              </a:rPr>
              <a:t>FedAvg</a:t>
            </a:r>
            <a:r>
              <a:rPr lang="en-IN" sz="1400" b="0" i="0" dirty="0">
                <a:solidFill>
                  <a:srgbClr val="1F2933"/>
                </a:solidFill>
                <a:latin typeface="Segoe UI"/>
              </a:rPr>
              <a:t> 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edges ahead (71%).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521EC2-E4F5-39D6-EB69-F48D629D6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68" y="1366772"/>
            <a:ext cx="7924800" cy="436664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5451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 dirty="0">
                <a:solidFill>
                  <a:srgbClr val="0E2A47"/>
                </a:solidFill>
                <a:latin typeface="Segoe UI Semibold"/>
              </a:rPr>
              <a:t>A Little Is Enough (Z = 1.0, Omniscient) </a:t>
            </a:r>
            <a:r>
              <a:rPr lang="en-US" sz="2700" b="1" dirty="0">
                <a:solidFill>
                  <a:srgbClr val="0E2A47"/>
                </a:solidFill>
                <a:latin typeface="Segoe UI Semibold"/>
              </a:rPr>
              <a:t>- </a:t>
            </a:r>
            <a:r>
              <a:rPr lang="en-IN" sz="2800" b="1" dirty="0">
                <a:solidFill>
                  <a:srgbClr val="0E2A47"/>
                </a:solidFill>
                <a:latin typeface="Segoe UI Semibold"/>
              </a:rPr>
              <a:t>All Aggregators (f = 0.30)</a:t>
            </a:r>
            <a:endParaRPr sz="27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6064478"/>
            <a:ext cx="10424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1F2933"/>
                </a:solidFill>
                <a:latin typeface="Segoe UI"/>
              </a:rPr>
              <a:t>Aegis collapses to 10%  — ALIE hijacks the median; </a:t>
            </a:r>
            <a:r>
              <a:rPr lang="en-IN" sz="1400" b="1" i="0" dirty="0" err="1">
                <a:solidFill>
                  <a:srgbClr val="FF0000"/>
                </a:solidFill>
                <a:latin typeface="Segoe UI"/>
              </a:rPr>
              <a:t>FedAvg</a:t>
            </a:r>
            <a:r>
              <a:rPr lang="en-IN" sz="1400" b="1" i="0" dirty="0">
                <a:solidFill>
                  <a:srgbClr val="FF0000"/>
                </a:solidFill>
                <a:latin typeface="Segoe UI"/>
              </a:rPr>
              <a:t> and </a:t>
            </a:r>
            <a:r>
              <a:rPr sz="1400" b="1" i="0" dirty="0" err="1">
                <a:solidFill>
                  <a:srgbClr val="C0392B"/>
                </a:solidFill>
                <a:latin typeface="Segoe UI"/>
              </a:rPr>
              <a:t>FoolsGold's</a:t>
            </a:r>
            <a:r>
              <a:rPr sz="1400" b="1" i="0" dirty="0">
                <a:solidFill>
                  <a:srgbClr val="C0392B"/>
                </a:solidFill>
                <a:latin typeface="Segoe UI"/>
              </a:rPr>
              <a:t> history tracking is the only survivor (71%)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935E7D-02A1-DA06-717A-5152C71F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03" y="1340652"/>
            <a:ext cx="8172130" cy="450405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EC49-4E05-BE75-0414-166C3C4C0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D04D25-869F-8143-6E83-58BF51D2DB56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2CB84-6F06-A2AA-84C6-DB02AE16EF8A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ALIE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611C1-6C12-BFB3-E98A-E446B34B08D0}"/>
              </a:ext>
            </a:extLst>
          </p:cNvPr>
          <p:cNvSpPr txBox="1"/>
          <p:nvPr/>
        </p:nvSpPr>
        <p:spPr>
          <a:xfrm>
            <a:off x="731520" y="640080"/>
            <a:ext cx="1080820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 dirty="0">
                <a:solidFill>
                  <a:srgbClr val="0E2A47"/>
                </a:solidFill>
                <a:latin typeface="Segoe UI Semibold"/>
              </a:rPr>
              <a:t>A Little Is Enough (Z = 1.0, Omniscient)</a:t>
            </a:r>
            <a:r>
              <a:rPr lang="en-US" sz="2700" b="1" i="0" dirty="0">
                <a:solidFill>
                  <a:srgbClr val="0E2A47"/>
                </a:solidFill>
                <a:latin typeface="Segoe UI Semibold"/>
              </a:rPr>
              <a:t> - </a:t>
            </a:r>
            <a:r>
              <a:rPr lang="en-IN" sz="2800" b="1" dirty="0">
                <a:solidFill>
                  <a:srgbClr val="0E2A47"/>
                </a:solidFill>
                <a:latin typeface="Segoe UI Semibold"/>
              </a:rPr>
              <a:t>All Aggregators (f = 0.30)</a:t>
            </a:r>
            <a:endParaRPr sz="27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D0912-C3C6-A417-5987-4DC0E7994418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0300F-68FE-DA2F-8943-2D749DE6C4F0}"/>
              </a:ext>
            </a:extLst>
          </p:cNvPr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D525AD-C66C-7ECE-054D-0436018E6379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E231EC-32FD-88FA-0039-23CB20D8041A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9BB75B-85A0-8B58-4DB1-C30A3713C179}"/>
              </a:ext>
            </a:extLst>
          </p:cNvPr>
          <p:cNvSpPr txBox="1"/>
          <p:nvPr/>
        </p:nvSpPr>
        <p:spPr>
          <a:xfrm>
            <a:off x="960120" y="6064478"/>
            <a:ext cx="10424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1F2933"/>
                </a:solidFill>
                <a:latin typeface="Segoe UI"/>
              </a:rPr>
              <a:t>Aegis collapses to 10%  — ALIE hijacks the median; </a:t>
            </a:r>
            <a:r>
              <a:rPr lang="en-IN" sz="1400" b="0" i="0" dirty="0" err="1">
                <a:solidFill>
                  <a:srgbClr val="1F2933"/>
                </a:solidFill>
                <a:latin typeface="Segoe UI"/>
              </a:rPr>
              <a:t>FedAvg</a:t>
            </a:r>
            <a:r>
              <a:rPr lang="en-IN" sz="1400" b="0" i="0" dirty="0">
                <a:solidFill>
                  <a:srgbClr val="1F2933"/>
                </a:solidFill>
                <a:latin typeface="Segoe UI"/>
              </a:rPr>
              <a:t> and </a:t>
            </a:r>
            <a:r>
              <a:rPr sz="1400" b="1" i="0" dirty="0" err="1">
                <a:solidFill>
                  <a:srgbClr val="C0392B"/>
                </a:solidFill>
                <a:latin typeface="Segoe UI"/>
              </a:rPr>
              <a:t>FoolsGold's</a:t>
            </a:r>
            <a:r>
              <a:rPr sz="1400" b="1" i="0" dirty="0">
                <a:solidFill>
                  <a:srgbClr val="C0392B"/>
                </a:solidFill>
                <a:latin typeface="Segoe UI"/>
              </a:rPr>
              <a:t> history tracking is the only survivor (71%)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88785C-E2BC-5FEE-7680-4A78AE0AE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307" y="1417242"/>
            <a:ext cx="6416370" cy="427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80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VOLUME SPAM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Volume Spam — </a:t>
            </a:r>
            <a:r>
              <a:rPr lang="en-US" sz="2600" b="1" dirty="0">
                <a:solidFill>
                  <a:srgbClr val="0E2A47"/>
                </a:solidFill>
                <a:latin typeface="Segoe UI Semibold"/>
              </a:rPr>
              <a:t>All Aggregators (f = 0.30, </a:t>
            </a:r>
            <a:r>
              <a:rPr lang="en-US" sz="2600" b="1" dirty="0" err="1">
                <a:solidFill>
                  <a:srgbClr val="0E2A47"/>
                </a:solidFill>
                <a:latin typeface="Segoe UI Semibold"/>
              </a:rPr>
              <a:t>n</a:t>
            </a:r>
            <a:r>
              <a:rPr lang="en-US" sz="2600" b="1" baseline="-25000" dirty="0" err="1">
                <a:solidFill>
                  <a:srgbClr val="0E2A47"/>
                </a:solidFill>
                <a:latin typeface="Segoe UI Semibold"/>
              </a:rPr>
              <a:t>k</a:t>
            </a:r>
            <a:r>
              <a:rPr lang="en-US" sz="2600" b="1" baseline="-25000" dirty="0">
                <a:solidFill>
                  <a:srgbClr val="0E2A47"/>
                </a:solidFill>
                <a:latin typeface="Segoe UI Semibold"/>
              </a:rPr>
              <a:t> </a:t>
            </a:r>
            <a:r>
              <a:rPr lang="en-US" sz="2600" b="1" dirty="0">
                <a:solidFill>
                  <a:srgbClr val="0E2A47"/>
                </a:solidFill>
                <a:latin typeface="Segoe UI Semibold"/>
              </a:rPr>
              <a:t>x 10</a:t>
            </a:r>
            <a:r>
              <a:rPr lang="en-US" sz="2600" b="1" baseline="30000" dirty="0">
                <a:solidFill>
                  <a:srgbClr val="0E2A47"/>
                </a:solidFill>
                <a:latin typeface="Segoe UI Semibold"/>
              </a:rPr>
              <a:t>9</a:t>
            </a:r>
            <a:r>
              <a:rPr lang="en-US" sz="2600" b="1" dirty="0">
                <a:solidFill>
                  <a:srgbClr val="0E2A47"/>
                </a:solidFill>
                <a:latin typeface="Segoe UI Semibold"/>
              </a:rPr>
              <a:t>)</a:t>
            </a:r>
            <a:endParaRPr sz="26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6068325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 dirty="0">
                <a:solidFill>
                  <a:srgbClr val="1F2933"/>
                </a:solidFill>
                <a:latin typeface="Segoe UI"/>
              </a:rPr>
              <a:t>Aegis #1 at </a:t>
            </a:r>
            <a:r>
              <a:rPr lang="en-IN" sz="1350" b="1" dirty="0">
                <a:solidFill>
                  <a:srgbClr val="2E7D32"/>
                </a:solidFill>
                <a:latin typeface="Segoe UI"/>
              </a:rPr>
              <a:t>72.21</a:t>
            </a:r>
            <a:r>
              <a:rPr sz="1350" b="1" i="0" dirty="0">
                <a:solidFill>
                  <a:srgbClr val="2E7D32"/>
                </a:solidFill>
                <a:latin typeface="Segoe UI"/>
              </a:rPr>
              <a:t>%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— median volume clipping neutralizes the inflation attack; </a:t>
            </a:r>
            <a:r>
              <a:rPr sz="1350" b="1" i="0" dirty="0" err="1">
                <a:solidFill>
                  <a:srgbClr val="C0392B"/>
                </a:solidFill>
                <a:latin typeface="Segoe UI"/>
              </a:rPr>
              <a:t>FedAvg</a:t>
            </a:r>
            <a:r>
              <a:rPr sz="1350" b="1" i="0" dirty="0">
                <a:solidFill>
                  <a:srgbClr val="C0392B"/>
                </a:solidFill>
                <a:latin typeface="Segoe UI"/>
              </a:rPr>
              <a:t> collapses to </a:t>
            </a:r>
            <a:r>
              <a:rPr lang="en-IN" sz="1350" b="1" dirty="0">
                <a:solidFill>
                  <a:srgbClr val="C0392B"/>
                </a:solidFill>
                <a:latin typeface="Segoe UI"/>
              </a:rPr>
              <a:t>6.52</a:t>
            </a:r>
            <a:r>
              <a:rPr sz="1350" b="1" i="0" dirty="0">
                <a:solidFill>
                  <a:srgbClr val="C0392B"/>
                </a:solidFill>
                <a:latin typeface="Segoe UI"/>
              </a:rPr>
              <a:t>%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1A7BF4-D6E7-48A2-4939-40678D61D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284" y="1399032"/>
            <a:ext cx="7897236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87C1-858B-8BFE-9545-FC3557C7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AB4E04-104D-6747-CFE2-F0B653711B35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D1C6B-E5AA-F1F2-DD93-5ABD35CC3462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VOLUME SPAM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10796-A0D2-2978-B3DB-01880259A055}"/>
              </a:ext>
            </a:extLst>
          </p:cNvPr>
          <p:cNvSpPr txBox="1"/>
          <p:nvPr/>
        </p:nvSpPr>
        <p:spPr>
          <a:xfrm>
            <a:off x="731520" y="6400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Volume Spam — All Aggregators (f = 0.30</a:t>
            </a:r>
            <a:r>
              <a:rPr lang="en-US" sz="2600" b="1" i="0" dirty="0">
                <a:solidFill>
                  <a:srgbClr val="0E2A47"/>
                </a:solidFill>
                <a:latin typeface="Segoe UI Semibold"/>
              </a:rPr>
              <a:t>, </a:t>
            </a:r>
            <a:r>
              <a:rPr lang="en-US" sz="2600" b="1" i="0" dirty="0" err="1">
                <a:solidFill>
                  <a:srgbClr val="0E2A47"/>
                </a:solidFill>
                <a:latin typeface="Segoe UI Semibold"/>
              </a:rPr>
              <a:t>n</a:t>
            </a:r>
            <a:r>
              <a:rPr lang="en-US" sz="2600" b="1" i="0" baseline="-25000" dirty="0" err="1">
                <a:solidFill>
                  <a:srgbClr val="0E2A47"/>
                </a:solidFill>
                <a:latin typeface="Segoe UI Semibold"/>
              </a:rPr>
              <a:t>k</a:t>
            </a:r>
            <a:r>
              <a:rPr lang="en-US" sz="2600" b="1" i="0" baseline="-25000" dirty="0">
                <a:solidFill>
                  <a:srgbClr val="0E2A47"/>
                </a:solidFill>
                <a:latin typeface="Segoe UI Semibold"/>
              </a:rPr>
              <a:t> </a:t>
            </a:r>
            <a:r>
              <a:rPr lang="en-US" sz="2600" b="1" i="0" dirty="0">
                <a:solidFill>
                  <a:srgbClr val="0E2A47"/>
                </a:solidFill>
                <a:latin typeface="Segoe UI Semibold"/>
              </a:rPr>
              <a:t>x 10</a:t>
            </a:r>
            <a:r>
              <a:rPr lang="en-US" sz="2600" b="1" i="0" baseline="30000" dirty="0">
                <a:solidFill>
                  <a:srgbClr val="0E2A47"/>
                </a:solidFill>
                <a:latin typeface="Segoe UI Semibold"/>
              </a:rPr>
              <a:t>9</a:t>
            </a:r>
            <a:r>
              <a:rPr sz="2600" b="1" i="0" dirty="0">
                <a:solidFill>
                  <a:srgbClr val="0E2A47"/>
                </a:solidFill>
                <a:latin typeface="Segoe UI Semibold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D18F0-1FCC-9792-BE95-C7A5B1F68048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FB39F2-47F3-9384-14A0-051BD8709654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6E6D60-F01C-85A0-8EA2-13E1E3EC0DA3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50992-B2B5-9F0D-1AB2-5DB5F7C3879F}"/>
              </a:ext>
            </a:extLst>
          </p:cNvPr>
          <p:cNvSpPr txBox="1"/>
          <p:nvPr/>
        </p:nvSpPr>
        <p:spPr>
          <a:xfrm>
            <a:off x="960120" y="6068325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dirty="0">
                <a:solidFill>
                  <a:srgbClr val="1F2933"/>
                </a:solidFill>
                <a:latin typeface="Segoe UI"/>
              </a:rPr>
              <a:t>Aegis #1 at </a:t>
            </a:r>
            <a:r>
              <a:rPr lang="en-IN" sz="1350" b="1" i="0" dirty="0">
                <a:solidFill>
                  <a:srgbClr val="2E7D32"/>
                </a:solidFill>
                <a:latin typeface="Segoe UI"/>
              </a:rPr>
              <a:t>72.21</a:t>
            </a:r>
            <a:r>
              <a:rPr sz="1350" b="1" i="0" dirty="0">
                <a:solidFill>
                  <a:srgbClr val="2E7D32"/>
                </a:solidFill>
                <a:latin typeface="Segoe UI"/>
              </a:rPr>
              <a:t>%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— median volume clipping neutralizes the inflation attack; </a:t>
            </a:r>
            <a:r>
              <a:rPr sz="1350" b="1" i="0" dirty="0" err="1">
                <a:solidFill>
                  <a:srgbClr val="C0392B"/>
                </a:solidFill>
                <a:latin typeface="Segoe UI"/>
              </a:rPr>
              <a:t>FedAvg</a:t>
            </a:r>
            <a:r>
              <a:rPr sz="1350" b="1" i="0" dirty="0">
                <a:solidFill>
                  <a:srgbClr val="C0392B"/>
                </a:solidFill>
                <a:latin typeface="Segoe UI"/>
              </a:rPr>
              <a:t> collapses to </a:t>
            </a:r>
            <a:r>
              <a:rPr lang="en-IN" sz="1350" b="1" i="0" dirty="0">
                <a:solidFill>
                  <a:srgbClr val="C0392B"/>
                </a:solidFill>
                <a:latin typeface="Segoe UI"/>
              </a:rPr>
              <a:t>6.52</a:t>
            </a:r>
            <a:r>
              <a:rPr sz="1350" b="1" i="0" dirty="0">
                <a:solidFill>
                  <a:srgbClr val="C0392B"/>
                </a:solidFill>
                <a:latin typeface="Segoe UI"/>
              </a:rPr>
              <a:t>%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17F54C-F503-749C-94A9-987808851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36" y="1331364"/>
            <a:ext cx="6847737" cy="453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C4050-1EBC-CE54-695F-166376A3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26E66F-1250-1B37-B5FE-F466F549BD9B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B0E9C1-8CBB-F77D-B0D9-39753297F540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SYBIL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FE06A-56D9-16D6-AE70-FDB95064C222}"/>
              </a:ext>
            </a:extLst>
          </p:cNvPr>
          <p:cNvSpPr txBox="1"/>
          <p:nvPr/>
        </p:nvSpPr>
        <p:spPr>
          <a:xfrm>
            <a:off x="731520" y="6400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Sybil — All Aggregators (f = 0.30, k = 2</a:t>
            </a:r>
            <a:r>
              <a:rPr lang="en-US" sz="2600" b="1" dirty="0">
                <a:solidFill>
                  <a:srgbClr val="0E2A47"/>
                </a:solidFill>
                <a:latin typeface="Segoe UI Semibold"/>
              </a:rPr>
              <a:t> without LR Decay</a:t>
            </a:r>
            <a:r>
              <a:rPr sz="2600" b="1" i="0" dirty="0">
                <a:solidFill>
                  <a:srgbClr val="0E2A47"/>
                </a:solidFill>
                <a:latin typeface="Segoe UI Semibold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D2FAA4-89B1-813A-8B09-BF709212273E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C3B9CC-9846-18E7-2227-8E60DC1BE932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96E9E7-474E-9040-229D-B76D34253077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9BB74E-E9C9-602D-6216-A131AAD13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769" y="1280161"/>
            <a:ext cx="8260081" cy="45441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5178B5-A420-077A-5C4C-3AC791D7AACA}"/>
              </a:ext>
            </a:extLst>
          </p:cNvPr>
          <p:cNvSpPr txBox="1"/>
          <p:nvPr/>
        </p:nvSpPr>
        <p:spPr>
          <a:xfrm>
            <a:off x="960120" y="6068325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dirty="0" err="1">
                <a:solidFill>
                  <a:srgbClr val="1F2933"/>
                </a:solidFill>
                <a:latin typeface="Segoe UI"/>
              </a:rPr>
              <a:t>FoolsGold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#1 (</a:t>
            </a:r>
            <a:r>
              <a:rPr lang="en-US" sz="1350" b="0" i="0" dirty="0">
                <a:solidFill>
                  <a:srgbClr val="1F2933"/>
                </a:solidFill>
                <a:latin typeface="Segoe UI"/>
              </a:rPr>
              <a:t>71.27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%) via full-history tracking; Aegis #</a:t>
            </a:r>
            <a:r>
              <a:rPr lang="en-US" sz="1350" b="0" i="0" dirty="0">
                <a:solidFill>
                  <a:srgbClr val="1F2933"/>
                </a:solidFill>
                <a:latin typeface="Segoe UI"/>
              </a:rPr>
              <a:t>3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at </a:t>
            </a:r>
            <a:r>
              <a:rPr lang="en-US" sz="1350" b="1" i="0" dirty="0">
                <a:solidFill>
                  <a:srgbClr val="2E7D32"/>
                </a:solidFill>
                <a:latin typeface="Segoe UI"/>
              </a:rPr>
              <a:t>64.22</a:t>
            </a:r>
            <a:r>
              <a:rPr sz="1350" b="1" i="0" dirty="0">
                <a:solidFill>
                  <a:srgbClr val="2E7D32"/>
                </a:solidFill>
                <a:latin typeface="Segoe UI"/>
              </a:rPr>
              <a:t>%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. </a:t>
            </a:r>
            <a:r>
              <a:rPr sz="1350" b="1" i="0" dirty="0">
                <a:solidFill>
                  <a:srgbClr val="C0392B"/>
                </a:solidFill>
                <a:latin typeface="Segoe UI"/>
              </a:rPr>
              <a:t>Geometric baselines destroyed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(Kru</a:t>
            </a:r>
            <a:r>
              <a:rPr lang="en-US" sz="1350" dirty="0">
                <a:solidFill>
                  <a:srgbClr val="1F2933"/>
                </a:solidFill>
                <a:latin typeface="Segoe UI"/>
              </a:rPr>
              <a:t>m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, </a:t>
            </a:r>
            <a:r>
              <a:rPr sz="1350" b="0" i="0" dirty="0" err="1">
                <a:solidFill>
                  <a:srgbClr val="1F2933"/>
                </a:solidFill>
                <a:latin typeface="Segoe UI"/>
              </a:rPr>
              <a:t>CWMed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535142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0C00F-63B9-FA50-2975-EB9EC1CB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1AFB8E-6E84-6F28-7204-A85BA0618F33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9DD90-B063-5D54-100A-9860E58FDE8D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SYBIL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4C11-8904-3D20-9A58-D6383D9BCD4C}"/>
              </a:ext>
            </a:extLst>
          </p:cNvPr>
          <p:cNvSpPr txBox="1"/>
          <p:nvPr/>
        </p:nvSpPr>
        <p:spPr>
          <a:xfrm>
            <a:off x="731520" y="64008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0E2A47"/>
                </a:solidFill>
                <a:latin typeface="Segoe UI Semibold"/>
              </a:rPr>
              <a:t>Sybil — All Aggregators (f = 0.30, k = 2</a:t>
            </a:r>
            <a:r>
              <a:rPr lang="en-US" sz="2600" b="1" i="0" dirty="0">
                <a:solidFill>
                  <a:srgbClr val="0E2A47"/>
                </a:solidFill>
                <a:latin typeface="Segoe UI Semibold"/>
              </a:rPr>
              <a:t> without LR Decay</a:t>
            </a:r>
            <a:r>
              <a:rPr sz="2600" b="1" i="0" dirty="0">
                <a:solidFill>
                  <a:srgbClr val="0E2A47"/>
                </a:solidFill>
                <a:latin typeface="Segoe UI Semibold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DB19DE-8B8A-FD09-2C20-4AD996167334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C37BAF-DE06-68A5-FEC3-9A26C0A1C04E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07E912A-3258-E294-CD25-90C12997CBC1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D0E7A-A57A-1B73-45C5-EDFE9463707B}"/>
              </a:ext>
            </a:extLst>
          </p:cNvPr>
          <p:cNvSpPr txBox="1"/>
          <p:nvPr/>
        </p:nvSpPr>
        <p:spPr>
          <a:xfrm>
            <a:off x="960120" y="6068325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 dirty="0" err="1">
                <a:solidFill>
                  <a:srgbClr val="1F2933"/>
                </a:solidFill>
                <a:latin typeface="Segoe UI"/>
              </a:rPr>
              <a:t>FoolsGold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#1 (</a:t>
            </a:r>
            <a:r>
              <a:rPr lang="en-US" sz="1350" b="0" i="0" dirty="0">
                <a:solidFill>
                  <a:srgbClr val="1F2933"/>
                </a:solidFill>
                <a:latin typeface="Segoe UI"/>
              </a:rPr>
              <a:t>71.27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%) via full-history tracking; Aegis #</a:t>
            </a:r>
            <a:r>
              <a:rPr lang="en-US" sz="1350" b="0" i="0" dirty="0">
                <a:solidFill>
                  <a:srgbClr val="1F2933"/>
                </a:solidFill>
                <a:latin typeface="Segoe UI"/>
              </a:rPr>
              <a:t>3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at </a:t>
            </a:r>
            <a:r>
              <a:rPr lang="en-US" sz="1350" b="1" i="0" dirty="0">
                <a:solidFill>
                  <a:srgbClr val="2E7D32"/>
                </a:solidFill>
                <a:latin typeface="Segoe UI"/>
              </a:rPr>
              <a:t>64.22</a:t>
            </a:r>
            <a:r>
              <a:rPr sz="1350" b="1" i="0" dirty="0">
                <a:solidFill>
                  <a:srgbClr val="2E7D32"/>
                </a:solidFill>
                <a:latin typeface="Segoe UI"/>
              </a:rPr>
              <a:t>%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. </a:t>
            </a:r>
            <a:r>
              <a:rPr sz="1350" b="1" i="0" dirty="0">
                <a:solidFill>
                  <a:srgbClr val="C0392B"/>
                </a:solidFill>
                <a:latin typeface="Segoe UI"/>
              </a:rPr>
              <a:t>Geometric baselines destroyed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 (Kru</a:t>
            </a:r>
            <a:r>
              <a:rPr lang="en-US" sz="1350" dirty="0">
                <a:solidFill>
                  <a:srgbClr val="1F2933"/>
                </a:solidFill>
                <a:latin typeface="Segoe UI"/>
              </a:rPr>
              <a:t>m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, </a:t>
            </a:r>
            <a:r>
              <a:rPr sz="1350" b="0" i="0" dirty="0" err="1">
                <a:solidFill>
                  <a:srgbClr val="1F2933"/>
                </a:solidFill>
                <a:latin typeface="Segoe UI"/>
              </a:rPr>
              <a:t>CWMed</a:t>
            </a:r>
            <a:r>
              <a:rPr sz="1350" b="0" i="0" dirty="0">
                <a:solidFill>
                  <a:srgbClr val="1F2933"/>
                </a:solidFill>
                <a:latin typeface="Segoe UI"/>
              </a:rPr>
              <a:t>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39AE02-9821-0BA2-2DF7-E9F329020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75" y="1298448"/>
            <a:ext cx="6786470" cy="45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554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A47"/>
                </a:solidFill>
                <a:latin typeface="Segoe UI Semibold"/>
              </a:rPr>
              <a:t>Resilience vs Byzantine Fraction (Sign-Flip)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89504" y="1435608"/>
            <a:ext cx="6428231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egis_none+sign_flip_manual_accura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927" y="1333194"/>
            <a:ext cx="6808543" cy="45390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Segoe UI"/>
              </a:rPr>
              <a:t>Graceful degradation to f = 0.30 (~2.8 pp / +10 pp); </a:t>
            </a:r>
            <a:r>
              <a:rPr sz="1400" b="1" i="0">
                <a:solidFill>
                  <a:srgbClr val="C0392B"/>
                </a:solidFill>
                <a:latin typeface="Segoe UI"/>
              </a:rPr>
              <a:t>a cliff at f = 0.40</a:t>
            </a:r>
            <a:r>
              <a:rPr sz="1400" b="0" i="0">
                <a:solidFill>
                  <a:srgbClr val="1F2933"/>
                </a:solidFill>
                <a:latin typeface="Segoe UI"/>
              </a:rPr>
              <a:t> as adversaries become a per-round majority and break the median.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HETEROGENEITY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2A47"/>
                </a:solidFill>
                <a:latin typeface="Segoe UI Semibold"/>
              </a:rPr>
              <a:t>Sensitivity to Non-IID Degree (Shard Sweep)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47611" y="1435608"/>
            <a:ext cx="4712017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91960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919611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80283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>
                <a:solidFill>
                  <a:srgbClr val="1F2933"/>
                </a:solidFill>
                <a:latin typeface="Segoe UI"/>
              </a:rPr>
              <a:t>At 4 shards the label-flip gap is ≈ 0; </a:t>
            </a:r>
            <a:r>
              <a:rPr sz="1400" b="1" i="0" dirty="0">
                <a:solidFill>
                  <a:srgbClr val="C0392B"/>
                </a:solidFill>
                <a:latin typeface="Segoe UI"/>
              </a:rPr>
              <a:t>extreme skew (2 shards) widens it to ~15 pp</a:t>
            </a:r>
            <a:r>
              <a:rPr sz="1400" b="0" i="0" dirty="0">
                <a:solidFill>
                  <a:srgbClr val="1F2933"/>
                </a:solidFill>
                <a:latin typeface="Segoe UI"/>
              </a:rPr>
              <a:t> as honest variance overlaps the attack.</a:t>
            </a:r>
          </a:p>
        </p:txBody>
      </p:sp>
      <p:pic>
        <p:nvPicPr>
          <p:cNvPr id="13" name="Picture 12" descr="aegis_label_flip+none_manual_accuracy_bar.png">
            <a:extLst>
              <a:ext uri="{FF2B5EF4-FFF2-40B4-BE49-F238E27FC236}">
                <a16:creationId xmlns:a16="http://schemas.microsoft.com/office/drawing/2014/main" id="{05F1D41A-E28F-2D2E-5AC7-D9DBC7C88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41" y="1306677"/>
            <a:ext cx="6897034" cy="459802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0E2A47"/>
                </a:solidFill>
                <a:latin typeface="Segoe UI Semibold"/>
              </a:rPr>
              <a:t>Ablation: Which Component Carries the Load?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406862"/>
              </p:ext>
            </p:extLst>
          </p:nvPr>
        </p:nvGraphicFramePr>
        <p:xfrm>
          <a:off x="731520" y="1554480"/>
          <a:ext cx="690372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Configuration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Best Acc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Δ Acc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Filter Acc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DR %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Prec %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Full Aegis</a:t>
                      </a:r>
                    </a:p>
                  </a:txBody>
                  <a:tcPr marL="54864" marR="54864" marT="18288" marB="18288" anchor="ctr">
                    <a:solidFill>
                      <a:srgbClr val="DDE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73.77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87.8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60.7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99.1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No Adaptive Threshold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72.47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B56A10"/>
                          </a:solidFill>
                          <a:latin typeface="Segoe UI"/>
                        </a:rPr>
                        <a:t>−1.30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97.2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92.0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98.7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No Cosine Penalty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73.73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−0.04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87.4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59.5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99.4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No Volume Clipping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74.67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+0.90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92.4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76.6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98.6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No Median Decontam</a:t>
                      </a:r>
                      <a:r>
                        <a:rPr lang="en-US" sz="11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ination</a:t>
                      </a:r>
                      <a:endParaRPr sz="11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74.24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+0.47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71.6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98.7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Segoe UI Semibold"/>
                        </a:rPr>
                        <a:t>No Euclidean Filter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71.65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Segoe UI"/>
                        </a:rPr>
                        <a:t>−2.12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Segoe UI"/>
                        </a:rPr>
                        <a:t>69.9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1F2933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554480"/>
            <a:ext cx="3749039" cy="461772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1682495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Segoe UI Semibold"/>
              </a:rPr>
              <a:t>Reading the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103120"/>
            <a:ext cx="3429000" cy="2351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sz="1250" b="1" dirty="0">
                <a:solidFill>
                  <a:srgbClr val="0E2A47"/>
                </a:solidFill>
                <a:latin typeface="Segoe UI"/>
              </a:rPr>
              <a:t>The Euclidean MAD filter is the load-bearing wall: removing it costs 2.12 pp and zeroes detection.</a:t>
            </a:r>
          </a:p>
          <a:p>
            <a:pPr marL="171450" indent="-171450"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sz="1250" b="0" dirty="0">
                <a:solidFill>
                  <a:srgbClr val="1F2933"/>
                </a:solidFill>
                <a:latin typeface="Segoe UI"/>
              </a:rPr>
              <a:t>Cosine penalty is marginal for label-flip (−0.04) — but it is the only signal under IPM.</a:t>
            </a:r>
            <a:endParaRPr lang="en-US" sz="1250" b="0" dirty="0">
              <a:solidFill>
                <a:srgbClr val="1F2933"/>
              </a:solidFill>
              <a:latin typeface="Segoe UI"/>
            </a:endParaRPr>
          </a:p>
          <a:p>
            <a:pPr marL="171450" indent="-171450"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250" dirty="0">
                <a:solidFill>
                  <a:srgbClr val="1F2933"/>
                </a:solidFill>
                <a:latin typeface="Segoe UI"/>
              </a:rPr>
              <a:t>Filter Accuracy – (TP +TN)/Total clients</a:t>
            </a:r>
            <a:endParaRPr lang="en-US" sz="1250" b="0" dirty="0">
              <a:solidFill>
                <a:srgbClr val="1F2933"/>
              </a:solidFill>
              <a:latin typeface="Segoe UI"/>
            </a:endParaRPr>
          </a:p>
          <a:p>
            <a:pPr marL="171450" indent="-171450"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250" dirty="0">
                <a:solidFill>
                  <a:srgbClr val="1F2933"/>
                </a:solidFill>
                <a:latin typeface="Segoe UI"/>
              </a:rPr>
              <a:t>DR% - </a:t>
            </a:r>
            <a:r>
              <a:rPr lang="en-US" sz="1250" dirty="0">
                <a:solidFill>
                  <a:srgbClr val="1F2933"/>
                </a:solidFill>
                <a:latin typeface="Segoe UI"/>
              </a:rPr>
              <a:t>ability to successfully find the attackers</a:t>
            </a:r>
          </a:p>
          <a:p>
            <a:pPr marL="171450" indent="-171450" algn="l"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50" b="0" dirty="0">
                <a:solidFill>
                  <a:srgbClr val="1F2933"/>
                </a:solidFill>
                <a:latin typeface="Segoe UI"/>
              </a:rPr>
              <a:t>Precision % - percentage of flagged clients that were actually attackers</a:t>
            </a:r>
            <a:endParaRPr sz="1250" b="0" dirty="0">
              <a:solidFill>
                <a:srgbClr val="1F293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B97A0B"/>
                </a:solidFill>
                <a:latin typeface="Segoe UI Semibold"/>
              </a:rPr>
              <a:t>RESULTS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E2A47"/>
                </a:solidFill>
                <a:latin typeface="Segoe UI Semibold"/>
              </a:rPr>
              <a:t>No Hyperparameter Recovers ALIE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89504" y="1435608"/>
            <a:ext cx="6428231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egis_alie_manual_accura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265" y="1399032"/>
            <a:ext cx="6535206" cy="43568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Segoe UI"/>
              </a:rPr>
              <a:t>Sweeping the cosine-penalty weight α leaves accuracy near chance — </a:t>
            </a:r>
            <a:r>
              <a:rPr sz="1400" b="1" i="0">
                <a:solidFill>
                  <a:srgbClr val="C0392B"/>
                </a:solidFill>
                <a:latin typeface="Segoe UI"/>
              </a:rPr>
              <a:t>ALIE is a structural gap, not a tuning issue</a:t>
            </a:r>
            <a:r>
              <a:rPr sz="1400" b="0" i="0">
                <a:solidFill>
                  <a:srgbClr val="1F29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2A47"/>
                </a:solidFill>
                <a:latin typeface="Segoe UI Semibold"/>
              </a:rPr>
              <a:t>Volume Clipping — The Load-Bearing Wall for Spam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870448"/>
            <a:ext cx="10424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Segoe UI"/>
              </a:rPr>
              <a:t>Full Aegis reaches </a:t>
            </a:r>
            <a:r>
              <a:rPr sz="1400" b="1" i="0">
                <a:solidFill>
                  <a:srgbClr val="2E7D32"/>
                </a:solidFill>
                <a:latin typeface="Segoe UI"/>
              </a:rPr>
              <a:t>73.60%</a:t>
            </a:r>
            <a:r>
              <a:rPr sz="1400" b="0" i="0">
                <a:solidFill>
                  <a:srgbClr val="1F2933"/>
                </a:solidFill>
                <a:latin typeface="Segoe UI"/>
              </a:rPr>
              <a:t> under volume spam; removing the clip collapses accuracy to </a:t>
            </a:r>
            <a:r>
              <a:rPr sz="1400" b="1" i="0">
                <a:solidFill>
                  <a:srgbClr val="C0392B"/>
                </a:solidFill>
                <a:latin typeface="Segoe UI"/>
              </a:rPr>
              <a:t>14.58%</a:t>
            </a:r>
            <a:r>
              <a:rPr sz="1400" b="0" i="0">
                <a:solidFill>
                  <a:srgbClr val="1F2933"/>
                </a:solidFill>
                <a:latin typeface="Segoe UI"/>
              </a:rPr>
              <a:t> — a 59 pp gap proves volume clipping is essential.</a:t>
            </a:r>
          </a:p>
        </p:txBody>
      </p:sp>
      <p:pic>
        <p:nvPicPr>
          <p:cNvPr id="13" name="Picture 12" descr="aegis_volume_spam_ablation_accuracy_line.png">
            <a:extLst>
              <a:ext uri="{FF2B5EF4-FFF2-40B4-BE49-F238E27FC236}">
                <a16:creationId xmlns:a16="http://schemas.microsoft.com/office/drawing/2014/main" id="{C7AA3347-9F16-A6C6-E707-BAE2BA278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01" y="1389888"/>
            <a:ext cx="7942701" cy="436853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C276-D02E-21D8-0416-363FA16E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76722D-ECE1-A381-BFF1-05B405C6E682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484B6-5A02-CD30-8EB4-475D4981FF5E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ABLATION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A04EA-C5F6-A65E-45DB-D86F6CAA8252}"/>
              </a:ext>
            </a:extLst>
          </p:cNvPr>
          <p:cNvSpPr txBox="1"/>
          <p:nvPr/>
        </p:nvSpPr>
        <p:spPr>
          <a:xfrm>
            <a:off x="731520" y="64008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IPM </a:t>
            </a:r>
            <a:r>
              <a:rPr sz="2400" b="1" i="0" dirty="0">
                <a:solidFill>
                  <a:srgbClr val="0E2A47"/>
                </a:solidFill>
                <a:latin typeface="Segoe UI Semibold"/>
              </a:rPr>
              <a:t>— </a:t>
            </a: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Different Epsilon values (0.01, 0.1, 0.5, 1.0, 2.0)</a:t>
            </a:r>
            <a:endParaRPr sz="24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7DF9D-F03C-391C-7698-23BCDB32A585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C11BBD-2964-C5C9-4EE9-2DB825B64CD4}"/>
              </a:ext>
            </a:extLst>
          </p:cNvPr>
          <p:cNvSpPr/>
          <p:nvPr/>
        </p:nvSpPr>
        <p:spPr>
          <a:xfrm>
            <a:off x="3369067" y="1435608"/>
            <a:ext cx="5469105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4B5922-4F97-DD04-B862-C2840EA1E544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2A2229-CB75-9156-5404-E75BD5BC5673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8537BD-203B-69F8-70C7-F048EE83C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745" y="1314907"/>
            <a:ext cx="6727403" cy="448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985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1DF8-C766-78AD-1E68-C23C20BB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6AA682-4652-94BC-3457-67F88F621356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C51CD-0F06-6149-85C0-D6BFBEB63094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ABLATION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A6B5ED-3601-857E-00C0-B592AD246F3A}"/>
              </a:ext>
            </a:extLst>
          </p:cNvPr>
          <p:cNvSpPr txBox="1"/>
          <p:nvPr/>
        </p:nvSpPr>
        <p:spPr>
          <a:xfrm>
            <a:off x="731520" y="64008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IPM </a:t>
            </a:r>
            <a:r>
              <a:rPr sz="2400" b="1" i="0" dirty="0">
                <a:solidFill>
                  <a:srgbClr val="0E2A47"/>
                </a:solidFill>
                <a:latin typeface="Segoe UI Semibold"/>
              </a:rPr>
              <a:t>— </a:t>
            </a: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The Cosine Penalty Is the Load-Bearing Wall</a:t>
            </a:r>
            <a:endParaRPr sz="24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BF2E4-71D7-25E5-E966-A9E65D57521E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386B78-17A2-80F7-DDBC-34688330292E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Removing the soft cosine penalty collapses Aegis under IPM (63.4 → 36.8 %, −26.6 pp); removing the two-pass median decontamination has no effect (+0.2 pp) — at f = 0.30 the cosine penalty alone holds the line.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431F1F7-E9E2-6DA9-AB16-B5E8390F1D65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3E45FD-5019-C309-D880-B984D38FB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255" y="1370461"/>
            <a:ext cx="7860473" cy="432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655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BD8C-05A2-A880-F0B9-A6C313AB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11A510-DA87-536F-6354-57ED92656DB8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55F47-DEDA-AD1E-FC78-73CFEB4DD5D6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ABLATION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FB83C-74AC-49E2-B236-EF7943DC9925}"/>
              </a:ext>
            </a:extLst>
          </p:cNvPr>
          <p:cNvSpPr txBox="1"/>
          <p:nvPr/>
        </p:nvSpPr>
        <p:spPr>
          <a:xfrm>
            <a:off x="731520" y="64008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IPM </a:t>
            </a:r>
            <a:r>
              <a:rPr sz="2400" b="1" i="0" dirty="0">
                <a:solidFill>
                  <a:srgbClr val="0E2A47"/>
                </a:solidFill>
                <a:latin typeface="Segoe UI Semibold"/>
              </a:rPr>
              <a:t>— </a:t>
            </a: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The Cosine Penalty Is the Load-Bearing Wall</a:t>
            </a:r>
            <a:endParaRPr sz="24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7C1DE4-C649-992D-68D1-ED086804917F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497212-56E2-3446-9368-7704D0ED930B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A72D32-D954-FDF7-DD25-4963E349BABF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C16634-CA7A-7FD9-03E7-6ECE217A5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47" y="1444719"/>
            <a:ext cx="6412230" cy="4274820"/>
          </a:xfrm>
          <a:prstGeom prst="rect">
            <a:avLst/>
          </a:prstGeom>
        </p:spPr>
      </p:pic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778F6B52-A9EA-29A1-C9EB-A95D8A633ED7}"/>
              </a:ext>
            </a:extLst>
          </p:cNvPr>
          <p:cNvSpPr/>
          <p:nvPr/>
        </p:nvSpPr>
        <p:spPr>
          <a:xfrm>
            <a:off x="883920" y="5855704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Removing the soft cosine penalty collapses Aegis under IPM (63.4 → 36.8 %, −26.6 pp); removing the two-pass median decontamination has no effect (+0.2 pp) — at f = 0.30 the cosine penalty alone holds the line.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6277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5812-F19E-3F28-40DB-99BEFAC98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E42CCE-7A74-9472-BE39-CC92B68A5BF8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6FFFB-B2BE-C219-68A4-FFFE9FE081AD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ABLATION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2DE7C-62E1-00D1-5CF8-443B6A0803F9}"/>
              </a:ext>
            </a:extLst>
          </p:cNvPr>
          <p:cNvSpPr txBox="1"/>
          <p:nvPr/>
        </p:nvSpPr>
        <p:spPr>
          <a:xfrm>
            <a:off x="731520" y="64008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Sybil</a:t>
            </a:r>
            <a:r>
              <a:rPr sz="2400" b="1" i="0" dirty="0">
                <a:solidFill>
                  <a:srgbClr val="0E2A47"/>
                </a:solidFill>
                <a:latin typeface="Segoe UI Semibold"/>
              </a:rPr>
              <a:t>—</a:t>
            </a: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 Sybils per client (1, 2, 3, 4, 5)</a:t>
            </a:r>
            <a:r>
              <a:rPr sz="2400" b="1" i="0" dirty="0">
                <a:solidFill>
                  <a:srgbClr val="0E2A47"/>
                </a:solidFill>
                <a:latin typeface="Segoe UI Semibold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CD923-9886-C8B8-1C3A-7F698A5C8EA1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1A64DEB-7436-0193-9781-C15B83EB8325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F5BC2D-FE18-D48E-AA47-FAD13F2C9ED8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375849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75B7-3023-56A4-CB96-462CE5E92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5924FE-D1FD-F7ED-41B2-CB2F2DB783CB}"/>
              </a:ext>
            </a:extLst>
          </p:cNvPr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C292F-6BCE-CB47-994C-D330F525949C}"/>
              </a:ext>
            </a:extLst>
          </p:cNvPr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 · ABLATION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9E1274-D407-CD8C-2FD5-C219B3273319}"/>
              </a:ext>
            </a:extLst>
          </p:cNvPr>
          <p:cNvSpPr txBox="1"/>
          <p:nvPr/>
        </p:nvSpPr>
        <p:spPr>
          <a:xfrm>
            <a:off x="731520" y="640080"/>
            <a:ext cx="1005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ALIE</a:t>
            </a:r>
            <a:r>
              <a:rPr sz="2400" b="1" i="0" dirty="0">
                <a:solidFill>
                  <a:srgbClr val="0E2A47"/>
                </a:solidFill>
                <a:latin typeface="Segoe UI Semibold"/>
              </a:rPr>
              <a:t>—</a:t>
            </a:r>
            <a:r>
              <a:rPr lang="en-US" sz="2400" b="1" i="0" dirty="0">
                <a:solidFill>
                  <a:srgbClr val="0E2A47"/>
                </a:solidFill>
                <a:latin typeface="Segoe UI Semibold"/>
              </a:rPr>
              <a:t> Different ALIE values</a:t>
            </a:r>
            <a:endParaRPr sz="2400" b="1" i="0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E8963F-CC8C-972A-E28F-9C932D7D656B}"/>
              </a:ext>
            </a:extLst>
          </p:cNvPr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FCBC30-1EAE-7611-7166-3E854C911CDB}"/>
              </a:ext>
            </a:extLst>
          </p:cNvPr>
          <p:cNvSpPr/>
          <p:nvPr/>
        </p:nvSpPr>
        <p:spPr>
          <a:xfrm>
            <a:off x="731520" y="5870448"/>
            <a:ext cx="10744200" cy="603504"/>
          </a:xfrm>
          <a:prstGeom prst="roundRect">
            <a:avLst/>
          </a:prstGeom>
          <a:solidFill>
            <a:srgbClr val="F7E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25CAFD-F126-AD41-8843-2685E6BBDB24}"/>
              </a:ext>
            </a:extLst>
          </p:cNvPr>
          <p:cNvSpPr/>
          <p:nvPr/>
        </p:nvSpPr>
        <p:spPr>
          <a:xfrm>
            <a:off x="731520" y="5870448"/>
            <a:ext cx="91440" cy="603504"/>
          </a:xfrm>
          <a:prstGeom prst="round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91561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Head-to-Head Under Active Attack  (f = 0.30)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08736"/>
              </p:ext>
            </p:extLst>
          </p:nvPr>
        </p:nvGraphicFramePr>
        <p:xfrm>
          <a:off x="731520" y="1572768"/>
          <a:ext cx="10607041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2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547">
                  <a:extLst>
                    <a:ext uri="{9D8B030D-6E8A-4147-A177-3AD203B41FA5}">
                      <a16:colId xmlns:a16="http://schemas.microsoft.com/office/drawing/2014/main" val="2735420536"/>
                    </a:ext>
                  </a:extLst>
                </a:gridCol>
                <a:gridCol w="12145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5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5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Aggregator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No At</a:t>
                      </a:r>
                      <a:r>
                        <a:rPr lang="en-IN" sz="120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tack</a:t>
                      </a:r>
                      <a:endParaRPr sz="1200" b="1" i="0" dirty="0">
                        <a:solidFill>
                          <a:srgbClr val="FFFFFF"/>
                        </a:solidFill>
                        <a:latin typeface="Segoe UI Semibold"/>
                      </a:endParaRP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Label Flip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Sign Flip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Volume Spam</a:t>
                      </a:r>
                      <a:endParaRPr sz="1200" b="1" i="0" dirty="0">
                        <a:solidFill>
                          <a:srgbClr val="FFFFFF"/>
                        </a:solidFill>
                        <a:latin typeface="Segoe UI Semibold"/>
                      </a:endParaRP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ALIE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IPM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Sybil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FedAvg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74.78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70.80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40.04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6.52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66.78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70.25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64.36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CWMed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69.68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62.07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49.64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60.47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23.21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10.43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30.58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Multi-Krum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69.36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72.85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72.14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34.18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17.30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16.36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FoolsGold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73.80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67.06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34.20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62.17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71.15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71.07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71.27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Bulyan 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67.69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68.51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62.58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50.47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20.39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10.00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31.49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0E2A47"/>
                          </a:solidFill>
                          <a:latin typeface="Segoe UI Semibold"/>
                        </a:rPr>
                        <a:t>Aegis 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1" i="0" dirty="0">
                          <a:solidFill>
                            <a:srgbClr val="0E2A47"/>
                          </a:solidFill>
                          <a:latin typeface="Segoe UI"/>
                        </a:rPr>
                        <a:t>74.65</a:t>
                      </a:r>
                      <a:endParaRPr sz="1250" b="1" i="0" dirty="0">
                        <a:solidFill>
                          <a:srgbClr val="0E2A47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E7D32"/>
                          </a:solidFill>
                          <a:latin typeface="Segoe UI"/>
                        </a:rPr>
                        <a:t>74.34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66.61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i="0" dirty="0">
                          <a:solidFill>
                            <a:srgbClr val="008E40"/>
                          </a:solidFill>
                          <a:latin typeface="Segoe UI"/>
                        </a:rPr>
                        <a:t>72.21</a:t>
                      </a:r>
                      <a:endParaRPr sz="1250" b="1" i="0" dirty="0">
                        <a:solidFill>
                          <a:srgbClr val="008E40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C0392B"/>
                          </a:solidFill>
                          <a:latin typeface="Segoe UI"/>
                        </a:rPr>
                        <a:t>10.00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2A47"/>
                          </a:solidFill>
                          <a:latin typeface="Segoe UI"/>
                        </a:rPr>
                        <a:t>63.32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0E2A47"/>
                          </a:solidFill>
                          <a:latin typeface="Segoe UI"/>
                        </a:rPr>
                        <a:t>64.22</a:t>
                      </a:r>
                    </a:p>
                  </a:txBody>
                  <a:tcPr marL="54864" marR="54864" marT="18288" marB="18288" anchor="ctr">
                    <a:solidFill>
                      <a:srgbClr val="F7E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789920" cy="463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070C10"/>
                </a:solidFill>
                <a:latin typeface="Segoe UI"/>
              </a:rPr>
              <a:t>▪  </a:t>
            </a:r>
            <a:r>
              <a:rPr sz="1250" b="0" dirty="0">
                <a:solidFill>
                  <a:srgbClr val="070C10"/>
                </a:solidFill>
                <a:latin typeface="Segoe UI"/>
              </a:rPr>
              <a:t>Three regimes: dominant (label-flip), competitive (sign-flip, IPM, Sybil), failed (ALIE). Per-attack figures follow.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dirty="0">
                <a:solidFill>
                  <a:srgbClr val="070C10"/>
                </a:solidFill>
                <a:latin typeface="Segoe UI"/>
              </a:rPr>
              <a:t>▪  </a:t>
            </a:r>
            <a:r>
              <a:rPr sz="1250" b="0" dirty="0">
                <a:solidFill>
                  <a:srgbClr val="070C10"/>
                </a:solidFill>
                <a:latin typeface="Segoe UI"/>
              </a:rPr>
              <a:t>† </a:t>
            </a:r>
            <a:r>
              <a:rPr sz="1250" b="0" dirty="0" err="1">
                <a:solidFill>
                  <a:srgbClr val="070C10"/>
                </a:solidFill>
                <a:latin typeface="Segoe UI"/>
              </a:rPr>
              <a:t>Bulyan</a:t>
            </a:r>
            <a:r>
              <a:rPr sz="1250" b="0" dirty="0">
                <a:solidFill>
                  <a:srgbClr val="070C10"/>
                </a:solidFill>
                <a:latin typeface="Segoe UI"/>
              </a:rPr>
              <a:t> evaluated at f = 0.20 (its n ≥ 4f+3 constraint is violated at f = 0.30).</a:t>
            </a:r>
          </a:p>
        </p:txBody>
      </p:sp>
    </p:spTree>
    <p:extLst>
      <p:ext uri="{BB962C8B-B14F-4D97-AF65-F5344CB8AC3E}">
        <p14:creationId xmlns:p14="http://schemas.microsoft.com/office/powerpoint/2010/main" val="2982428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B97A0B"/>
                </a:solidFill>
                <a:latin typeface="Segoe UI Semibold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Summary Across All Attacks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46821"/>
              </p:ext>
            </p:extLst>
          </p:nvPr>
        </p:nvGraphicFramePr>
        <p:xfrm>
          <a:off x="731519" y="1554480"/>
          <a:ext cx="10270778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8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5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1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Attack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Aegis Acc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Best Baseline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 Semibold"/>
                        </a:rPr>
                        <a:t>Gap (pp)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FFFFFF"/>
                          </a:solidFill>
                          <a:latin typeface="Segoe UI Semibold"/>
                        </a:rPr>
                        <a:t>Regime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Label Flip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74.34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Krum</a:t>
                      </a:r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  72.85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E7D32"/>
                          </a:solidFill>
                          <a:latin typeface="Segoe UI"/>
                        </a:rPr>
                        <a:t>+1.49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en-IN" sz="1250" b="1" i="0" dirty="0">
                          <a:solidFill>
                            <a:srgbClr val="0E2A47"/>
                          </a:solidFill>
                          <a:latin typeface="Segoe UI Semibold"/>
                        </a:rPr>
                        <a:t>Volume Spam</a:t>
                      </a:r>
                      <a:endParaRPr sz="1250" b="1" i="0" dirty="0">
                        <a:solidFill>
                          <a:srgbClr val="0E2A47"/>
                        </a:solidFill>
                        <a:latin typeface="Segoe UI Semibold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72.21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Krum 72.14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1" i="0" dirty="0">
                          <a:solidFill>
                            <a:srgbClr val="2E7D32"/>
                          </a:solidFill>
                          <a:latin typeface="Segoe UI"/>
                        </a:rPr>
                        <a:t>+0.07</a:t>
                      </a:r>
                      <a:endParaRPr sz="1250" b="1" i="0" dirty="0">
                        <a:solidFill>
                          <a:srgbClr val="2E7D32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  <a:endParaRPr sz="1250" b="1" i="0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59203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0E2A47"/>
                          </a:solidFill>
                          <a:latin typeface="Segoe UI Semibold"/>
                        </a:rPr>
                        <a:t>No Attack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74.65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1F2933"/>
                          </a:solidFill>
                          <a:latin typeface="Segoe UI"/>
                        </a:rPr>
                        <a:t>FedAvg</a:t>
                      </a:r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  7</a:t>
                      </a:r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4.78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−</a:t>
                      </a:r>
                      <a:r>
                        <a:rPr lang="en-US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0.13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  <a:r>
                        <a:rPr lang="en-IN" sz="125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  <a:endParaRPr sz="1250" b="1" i="0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B56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3624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0E2A47"/>
                          </a:solidFill>
                          <a:latin typeface="Segoe UI Semibold"/>
                        </a:rPr>
                        <a:t>Sign Flip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66.61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Krum  70.05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−3.44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II</a:t>
                      </a:r>
                    </a:p>
                  </a:txBody>
                  <a:tcPr marL="54864" marR="54864" marT="18288" marB="18288" anchor="ctr">
                    <a:solidFill>
                      <a:srgbClr val="B56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IPM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63.32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FoolsGold  71.07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−7.75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II</a:t>
                      </a:r>
                    </a:p>
                  </a:txBody>
                  <a:tcPr marL="54864" marR="54864" marT="18288" marB="18288" anchor="ctr">
                    <a:solidFill>
                      <a:srgbClr val="B56A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Sybil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64.22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1F2933"/>
                          </a:solidFill>
                          <a:latin typeface="Segoe UI"/>
                        </a:rPr>
                        <a:t>FoolsGold</a:t>
                      </a:r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  </a:t>
                      </a:r>
                      <a:r>
                        <a:rPr lang="en-IN"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71.27</a:t>
                      </a:r>
                      <a:endParaRPr sz="1250" b="0" i="0" dirty="0">
                        <a:solidFill>
                          <a:srgbClr val="1F2933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−</a:t>
                      </a:r>
                      <a:r>
                        <a:rPr lang="en-IN" sz="1250" b="1" i="0" dirty="0">
                          <a:solidFill>
                            <a:srgbClr val="C00000"/>
                          </a:solidFill>
                          <a:latin typeface="Segoe UI"/>
                        </a:rPr>
                        <a:t>7.05</a:t>
                      </a:r>
                      <a:endParaRPr sz="1250" b="1" i="0" dirty="0">
                        <a:solidFill>
                          <a:srgbClr val="C00000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</a:t>
                      </a:r>
                      <a:r>
                        <a:rPr lang="en-IN" sz="125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II</a:t>
                      </a:r>
                      <a:endParaRPr sz="1250" b="1" i="0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54864" marR="54864" marT="18288" marB="18288" anchor="ctr"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Segoe UI Semibold"/>
                        </a:rPr>
                        <a:t>ALIE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Segoe UI"/>
                        </a:rPr>
                        <a:t>10.00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 dirty="0" err="1">
                          <a:solidFill>
                            <a:srgbClr val="1F2933"/>
                          </a:solidFill>
                          <a:latin typeface="Segoe UI"/>
                        </a:rPr>
                        <a:t>FoolsGold</a:t>
                      </a:r>
                      <a:r>
                        <a:rPr sz="1250" b="0" i="0" dirty="0">
                          <a:solidFill>
                            <a:srgbClr val="1F2933"/>
                          </a:solidFill>
                          <a:latin typeface="Segoe UI"/>
                        </a:rPr>
                        <a:t>  71.15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0392B"/>
                          </a:solidFill>
                          <a:latin typeface="Segoe UI"/>
                        </a:rPr>
                        <a:t>−61.15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FFFFFF"/>
                          </a:solidFill>
                          <a:latin typeface="Segoe UI"/>
                        </a:rPr>
                        <a:t>III</a:t>
                      </a:r>
                    </a:p>
                  </a:txBody>
                  <a:tcPr marL="54864" marR="54864" marT="18288" marB="18288" anchor="ctr"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3945"/>
            <a:ext cx="1078992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 dirty="0" err="1">
                <a:solidFill>
                  <a:srgbClr val="1F2933"/>
                </a:solidFill>
                <a:latin typeface="Segoe UI"/>
              </a:rPr>
              <a:t>FoolsGold</a:t>
            </a:r>
            <a:r>
              <a:rPr sz="1350" b="0" dirty="0">
                <a:solidFill>
                  <a:srgbClr val="1F2933"/>
                </a:solidFill>
                <a:latin typeface="Segoe UI"/>
              </a:rPr>
              <a:t> wins ALIE</a:t>
            </a:r>
            <a:r>
              <a:rPr lang="en-IN" sz="1350" b="0" dirty="0">
                <a:solidFill>
                  <a:srgbClr val="1F2933"/>
                </a:solidFill>
                <a:latin typeface="Segoe UI"/>
              </a:rPr>
              <a:t>, IPM </a:t>
            </a:r>
            <a:r>
              <a:rPr sz="1350" b="0" dirty="0">
                <a:solidFill>
                  <a:srgbClr val="1F2933"/>
                </a:solidFill>
                <a:latin typeface="Segoe UI"/>
              </a:rPr>
              <a:t>&amp; Sybil — its full-history tracking </a:t>
            </a:r>
            <a:r>
              <a:rPr sz="1350" b="0" dirty="0" err="1">
                <a:solidFill>
                  <a:srgbClr val="1F2933"/>
                </a:solidFill>
                <a:latin typeface="Segoe UI"/>
              </a:rPr>
              <a:t>outresolves</a:t>
            </a:r>
            <a:r>
              <a:rPr sz="1350" b="0" dirty="0">
                <a:solidFill>
                  <a:srgbClr val="1F2933"/>
                </a:solidFill>
                <a:latin typeface="Segoe UI"/>
              </a:rPr>
              <a:t> the 20-round EMA.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 dirty="0">
                <a:solidFill>
                  <a:srgbClr val="1F2933"/>
                </a:solidFill>
                <a:latin typeface="Segoe UI"/>
              </a:rPr>
              <a:t>No aggregator dominates everywhere → motivates an attack-type-aware routing layer (future work).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183C60"/>
                </a:solidFill>
                <a:latin typeface="Segoe UI Light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3127248"/>
            <a:ext cx="1554480" cy="5486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468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A54E"/>
                </a:solidFill>
                <a:latin typeface="Segoe UI Semibold"/>
              </a:rPr>
              <a:t>PART SIX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29184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Conclusions &amp;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43484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D2DE"/>
                </a:solidFill>
                <a:latin typeface="Segoe UI"/>
              </a:rPr>
              <a:t>What survives the experimental critique — and what comes next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Achievements &amp; Honest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85232" cy="45262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85232" cy="914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7D32"/>
                </a:solidFill>
                <a:latin typeface="Segoe UI Semibold"/>
              </a:rPr>
              <a:t>What survives the critique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8920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Near-zero Byzantine Tax: 0.08 pp vs FedAvg under no attack.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Dominant label-flip resilience: 74.34%, 98.8% precision.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O(kd) linear-time aggregation — ~30× faster than Bulyan (R²=0.999).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Two-pass median prevents Center Drag — a structural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54480"/>
            <a:ext cx="5276088" cy="452628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5276088" cy="91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7830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392B"/>
                </a:solidFill>
                <a:latin typeface="Segoe UI Semibold"/>
              </a:rPr>
              <a:t>Stated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331720"/>
            <a:ext cx="48920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IPM partial evasion: 63.3% by dilution, 0% detection — velocity patch proposed.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ALIE catastrophic failure: 10% — EMA window too short; remains open.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E3A54E"/>
                </a:solidFill>
                <a:latin typeface="Segoe UI"/>
              </a:rPr>
              <a:t>▪  </a:t>
            </a:r>
            <a:r>
              <a:rPr sz="1350" b="0">
                <a:solidFill>
                  <a:srgbClr val="1F2933"/>
                </a:solidFill>
                <a:latin typeface="Segoe UI"/>
              </a:rPr>
              <a:t>f = 0.40 collapse: provable limit of any median-based scheme (0.5 breakdown).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9963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97A0B"/>
                </a:solidFill>
                <a:latin typeface="Segoe UI"/>
              </a:rPr>
              <a:t>The failure modes are structural gaps requiring architectural extensions — not implementation defects.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Four Research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85232" cy="19202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865376"/>
            <a:ext cx="566928" cy="566928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6537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3A54E"/>
                </a:solidFill>
                <a:latin typeface="Segoe UI Ligh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8366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A47"/>
                </a:solidFill>
                <a:latin typeface="Segoe UI Semibold"/>
              </a:rPr>
              <a:t>Server-Velocity for IPM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59152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B7B"/>
                </a:solidFill>
                <a:latin typeface="Segoe UI"/>
              </a:rPr>
              <a:t>Screen against a momentum buffer V⁽ᵗ⁻¹⁾ — a pre-debiased reference IPM cannot poison. (Re-activates the interim's server momentum.)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5285232" cy="19202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28232" y="1865376"/>
            <a:ext cx="566928" cy="566928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86537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3A54E"/>
                </a:solidFill>
                <a:latin typeface="Segoe UI Ligh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88366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A47"/>
                </a:solidFill>
                <a:latin typeface="Segoe UI Semibold"/>
              </a:rPr>
              <a:t>Kalman Reputation for ALIE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359152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B7B"/>
                </a:solidFill>
                <a:latin typeface="Segoe UI"/>
              </a:rPr>
              <a:t>Replace fixed-window EMA with a Kalman-filtered estimator — adaptive memory at O(Kd), not FoolsGold's O(K²d).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5285232" cy="19202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4014216"/>
            <a:ext cx="566928" cy="566928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0142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3A54E"/>
                </a:solidFill>
                <a:latin typeface="Segoe UI Ligh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03250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A47"/>
                </a:solidFill>
                <a:latin typeface="Segoe UI Semibold"/>
              </a:rPr>
              <a:t>Asynchronous Aegis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507992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B7B"/>
                </a:solidFill>
                <a:latin typeface="Segoe UI"/>
              </a:rPr>
              <a:t>Staleness-weighted cosine penalty to suppress deliberately delayed Byzantine updates over disrupted links.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94760"/>
            <a:ext cx="5285232" cy="1920240"/>
          </a:xfrm>
          <a:prstGeom prst="roundRect">
            <a:avLst/>
          </a:prstGeom>
          <a:solidFill>
            <a:srgbClr val="ECF1F6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28232" y="4014216"/>
            <a:ext cx="566928" cy="566928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40142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3A54E"/>
                </a:solidFill>
                <a:latin typeface="Segoe UI Ligh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032504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2A47"/>
                </a:solidFill>
                <a:latin typeface="Segoe UI Semibold"/>
              </a:rPr>
              <a:t>Dynamic EMA Decay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4507992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B7B"/>
                </a:solidFill>
                <a:latin typeface="Segoe UI"/>
              </a:rPr>
              <a:t>Tie γ to network churn — shrink memory in volatile rounds, keep long memory when stable.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Selected References 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[1]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H. B. McMahan et al., “Communication-Efficient Learning of Deep Networks from Decentralized Data,” AISTATS, 2017.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[2]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P. Blanchard et al., “Machine Learning with Adversaries: Byzantine-Tolerant Gradient Descent (Krum),” </a:t>
            </a:r>
            <a:r>
              <a:rPr sz="1300" dirty="0" err="1">
                <a:solidFill>
                  <a:srgbClr val="1F2933"/>
                </a:solidFill>
                <a:latin typeface="Segoe UI"/>
              </a:rPr>
              <a:t>NeurIPS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, 2017.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[3]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D. Yin et al., “Byzantine-Robust Distributed Learning: Towards Optimal Statistical Rates,” ICML, 2018.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[4]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E. M. El Mhamdi et al., “The Hidden Vulnerability of Distributed Learning in Byzantium (</a:t>
            </a:r>
            <a:r>
              <a:rPr sz="1300" dirty="0" err="1">
                <a:solidFill>
                  <a:srgbClr val="1F2933"/>
                </a:solidFill>
                <a:latin typeface="Segoe UI"/>
              </a:rPr>
              <a:t>Bulyan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),” ICML, 2018.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[5]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G. Baruch et al., “A Little Is Enough: Circumventing Defenses for Distributed Learning (ALIE),” </a:t>
            </a:r>
            <a:r>
              <a:rPr sz="1300" dirty="0" err="1">
                <a:solidFill>
                  <a:srgbClr val="1F2933"/>
                </a:solidFill>
                <a:latin typeface="Segoe UI"/>
              </a:rPr>
              <a:t>NeurIPS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, 2019.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[6]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C. Xie et al., “Fall of Empires: Breaking Byzantine-tolerant SGD by Inner Product Manipulation (IPM),” UAI, 2019.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[7]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C. Fung et al., “The Limitations of Federated Learning in Sybil Settings (</a:t>
            </a:r>
            <a:r>
              <a:rPr sz="1300" dirty="0" err="1">
                <a:solidFill>
                  <a:srgbClr val="1F2933"/>
                </a:solidFill>
                <a:latin typeface="Segoe UI"/>
              </a:rPr>
              <a:t>FoolsGold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),” RAID, 2020.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 dirty="0">
                <a:solidFill>
                  <a:srgbClr val="B97A0B"/>
                </a:solidFill>
                <a:latin typeface="Segoe UI Semibold"/>
              </a:rPr>
              <a:t>[8]  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X. Cao et al., “</a:t>
            </a:r>
            <a:r>
              <a:rPr sz="1300" dirty="0" err="1">
                <a:solidFill>
                  <a:srgbClr val="1F2933"/>
                </a:solidFill>
                <a:latin typeface="Segoe UI"/>
              </a:rPr>
              <a:t>FLTrust</a:t>
            </a:r>
            <a:r>
              <a:rPr sz="1300" dirty="0">
                <a:solidFill>
                  <a:srgbClr val="1F2933"/>
                </a:solidFill>
                <a:latin typeface="Segoe UI"/>
              </a:rPr>
              <a:t>: Byzantine-Robust Federated Learning via Trust Bootstrapping,” NDSS, 2021.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118872" cy="603504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206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B97A0B"/>
                </a:solidFill>
                <a:latin typeface="Segoe UI Semibold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A47"/>
                </a:solidFill>
                <a:latin typeface="Segoe UI Semibold"/>
              </a:rPr>
              <a:t>Selected References 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6459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[9]  </a:t>
            </a:r>
            <a:r>
              <a:rPr sz="1300">
                <a:solidFill>
                  <a:srgbClr val="1F2933"/>
                </a:solidFill>
                <a:latin typeface="Segoe UI"/>
              </a:rPr>
              <a:t>T. D. Nguyen et al., “FLAME: Taming Backdoors in Federated Learning,” USENIX Security, 2022.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[10]  </a:t>
            </a:r>
            <a:r>
              <a:rPr sz="1300">
                <a:solidFill>
                  <a:srgbClr val="1F2933"/>
                </a:solidFill>
                <a:latin typeface="Segoe UI"/>
              </a:rPr>
              <a:t>C. Xie et al., “Zeno: Distributed SGD with Suspicion-based Fault-tolerance,” ICML, 2019.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[11]  </a:t>
            </a:r>
            <a:r>
              <a:rPr sz="1300">
                <a:solidFill>
                  <a:srgbClr val="1F2933"/>
                </a:solidFill>
                <a:latin typeface="Segoe UI"/>
              </a:rPr>
              <a:t>S. P. Karimireddy et al., “Learning from History for Byzantine Robust Optimization,” ICML, 2021.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[12]  </a:t>
            </a:r>
            <a:r>
              <a:rPr sz="1300">
                <a:solidFill>
                  <a:srgbClr val="1F2933"/>
                </a:solidFill>
                <a:latin typeface="Segoe UI"/>
              </a:rPr>
              <a:t>V. Shejwalkar, A. Houmansadr, “Manipulating the Byzantine (DnC),” NDSS, 2021.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[13]  </a:t>
            </a:r>
            <a:r>
              <a:rPr sz="1300">
                <a:solidFill>
                  <a:srgbClr val="1F2933"/>
                </a:solidFill>
                <a:latin typeface="Segoe UI"/>
              </a:rPr>
              <a:t>S. Awan et al., “CONTRA: Defending Against Poisoning Attacks in Federated Learning,” ESORICS, 2021.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[14]  </a:t>
            </a:r>
            <a:r>
              <a:rPr sz="1300">
                <a:solidFill>
                  <a:srgbClr val="1F2933"/>
                </a:solidFill>
                <a:latin typeface="Segoe UI"/>
              </a:rPr>
              <a:t>K. Pillutla et al., “Robust Aggregation for Federated Learning (RFA),” IEEE Trans. Signal Process., 2022.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[15]  </a:t>
            </a:r>
            <a:r>
              <a:rPr sz="1300">
                <a:solidFill>
                  <a:srgbClr val="1F2933"/>
                </a:solidFill>
                <a:latin typeface="Segoe UI"/>
              </a:rPr>
              <a:t>U. Shahul, J. Harshan, “FORTA: Byzantine-Resilient FL Aggregation via DFT-Guided Krum,” arXiv:2507.14588, 2025.</a:t>
            </a:r>
          </a:p>
          <a:p>
            <a:pPr>
              <a:lnSpc>
                <a:spcPct val="104000"/>
              </a:lnSpc>
              <a:spcAft>
                <a:spcPts val="1100"/>
              </a:spcAft>
            </a:pPr>
            <a:r>
              <a:rPr sz="1300" b="1">
                <a:solidFill>
                  <a:srgbClr val="B97A0B"/>
                </a:solidFill>
                <a:latin typeface="Segoe UI Semibold"/>
              </a:rPr>
              <a:t>[16]  </a:t>
            </a:r>
            <a:r>
              <a:rPr sz="1300">
                <a:solidFill>
                  <a:srgbClr val="1F2933"/>
                </a:solidFill>
                <a:latin typeface="Segoe UI"/>
              </a:rPr>
              <a:t>T.-M. H. Hsu et al., “Measuring the Effects of Non-Identical Data Distribution for Federated Visual Classification,” NeurIPS-W, 2019.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3A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461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3A54E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4206240" cy="32004"/>
          </a:xfrm>
          <a:prstGeom prst="rect">
            <a:avLst/>
          </a:prstGeom>
          <a:solidFill>
            <a:srgbClr val="183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D7E0EA"/>
                </a:solidFill>
                <a:latin typeface="Segoe UI"/>
              </a:rPr>
              <a:t>Enhanced Aegis: A Byzantine-Resilient FL Protocol for Drone Swarms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B9C6D4"/>
                </a:solidFill>
                <a:latin typeface="Segoe UI"/>
              </a:rPr>
              <a:t>Abhishek Kumar Tripathi  ·  2024EET2845  ·  Advisor: Prof. Harshan Jagdeesh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A9B8C8"/>
                </a:solidFill>
                <a:latin typeface="Segoe UI"/>
              </a:rPr>
              <a:t>Department of Electrical Engineering, IIT Delhi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4682</Words>
  <Application>Microsoft Office PowerPoint</Application>
  <PresentationFormat>Widescreen</PresentationFormat>
  <Paragraphs>654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Calibri</vt:lpstr>
      <vt:lpstr>Consolas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Kumar Tripathi</cp:lastModifiedBy>
  <cp:revision>49</cp:revision>
  <dcterms:created xsi:type="dcterms:W3CDTF">2013-01-27T09:14:16Z</dcterms:created>
  <dcterms:modified xsi:type="dcterms:W3CDTF">2026-06-21T06:59:11Z</dcterms:modified>
  <cp:category/>
</cp:coreProperties>
</file>